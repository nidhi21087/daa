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1A41B01-B3A6-87B7-CE5B-4EA166F6FA86}">
          <p14:sldIdLst>
            <p14:sldId id="256"/>
          </p14:sldIdLst>
        </p14:section>
        <p14:section name="The problem" id="{BC046070-FB3F-80E7-ECCE-450B4EA011DC}">
          <p14:sldIdLst>
            <p14:sldId id="257"/>
            <p14:sldId id="258"/>
          </p14:sldIdLst>
        </p14:section>
        <p14:section name="Greedy" id="{F1FD8E13-726B-99F9-3D23-F61F064D4EF5}">
          <p14:sldIdLst>
            <p14:sldId id="259"/>
            <p14:sldId id="260"/>
          </p14:sldIdLst>
        </p14:section>
        <p14:section name="Dynamic programming" id="{E91C6E4B-1317-C6B7-753A-3208C366C9FB}">
          <p14:sldIdLst>
            <p14:sldId id="261"/>
            <p14:sldId id="262"/>
          </p14:sldIdLst>
        </p14:section>
        <p14:section name="Wrap-up" id="{A0D4AF28-B63A-9720-D2C9-F0FC2B3E0B84}">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6287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idea: a pack with room for exactly ten kilograms, and the last kilogram is where the two algorithms part ways. Fill in name, roll number and section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pack holds 10 kg. Three items weigh 5, 4 and 6 kg and are worth 30, 20 and 18. Together they weigh 15 kg, so something must stay behind. Formally: n items, weights w_i, profits p_i, capacity W. These same three items carry through slides 3 and 4.</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three items, same 10 kg. In the fractional variant you may cut an item, so the last kilogram is filled with 1/6 of C for a total profit of 53. In the 0/1 variant every item is all-or-nothing, so the best you can do is A and B for 50, leaving 1 kg unused. Allowing fractions can never make the optimum worse: 53 is at least 50.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moves: compute profit-per-weight for each item, sort from highest to lowest, then take whole items while they fit and a fraction of the next one. Ratios are 6, 5 and 3. A (5 kg) then B (4 kg) fill 9 kg for profit 50; the last 1 kg takes 1/6 of C, worth 18 x 1/6 = 3. Total 53. Sorting dominates, so the running time is O(n log 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on A, B, C greedy gives 53 for the fractional problem, which is always optimal, and happens to give 50 for 0/1, also optimal here. Right: a counterexample. Items 1, 2, 3 weigh 6, 5, 5 kg with profits 30, 24, 24, so ratios are 5.0, 4.8, 4.8. Greedy takes item 1 first, leaves 4 kg, and neither remaining item fits: profit 30. Taking items 2 and 3 fills exactly 10 kg for profit 48. 30/48 = 62.5%. (Fractional greedy on these same items would reach 30 + 4/5 x 24 = 49.2, which is why splitting makes greedy safe.)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DP[i][w] is the best profit using only the first i items with capacity w. If item i is heavier than w it cannot be used, so copy the cell above. Otherwise take the better of skipping item i, DP[i-1][w], or taking it: p_i plus the best for the remaining capacity, DP[i-1][w-w_i]. Base row is all zeros; the answer is DP[n][W]. Weights and capacity must be integers so w - w_i is a valid column index.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three items as the counterexample: (6 kg, 30), (5 kg, 24), (5 kg, 24), capacity 10. Row 0 is all zeros. Row 1 jumps to 30 at w = 6. Row 2 adds 24 from w = 5 onward but stays at 30 for w = 6 to 10, because 24 + DP[1][w-5] is only 24. Row 3: DP[3][10] = max(30, 24 + DP[2][5]) = max(30, 48) = 48. Traceback: 48 differs from DP[2][10] = 30, so item 3 is taken, leaving capacity 5. DP[2][5] = 24 differs from DP[1][5] = 0, so item 2 is taken, leaving capacity 0. Optimal set: items 2 and 3, profit 48. Greedy got only 30.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Greedy: O(n log n) because sorting dominates; correct for fractional, not for 0/1. DP: O(nW) time and O(nW) space for the standard full table, because there are (n+1)(W+1) cells and each takes constant time. W is an integer capacity. The input encodes W in about log2 W bits, so O(nW) is exponential in the size of that encoding: it is pseudo-polynomial, not polynomial. Keeping only two rows lowers space to O(W) but loses the table needed to trace back which items were chosen.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Applications: loading cargo, choosing projects under a budget, allocating cloud workloads, cutting and packing decisions. Takeaways: fractional knapsack is solved optimally by ratio sorting in O(n log n); for 0/1 greedy can fail, and dynamic programming gives the optimum in O(nW) time and space; O(nW) is pseudo-polynomial because it depends on the value of W, not the length of its encoding.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actually opened while preparing the deck are listed with what each was used for. The disclosure states how the deck was produced. Replace the bracketed placeholders with your own details, and edit the tool note to match any additional tools you use.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6F0E4"/>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046720" cy="237744"/>
          </a:xfrm>
          <a:prstGeom prst="rect">
            <a:avLst/>
          </a:prstGeom>
          <a:noFill/>
          <a:ln/>
        </p:spPr>
        <p:txBody>
          <a:bodyPr wrap="square" rtlCol="0"/>
          <a:lstStyle>
            <a:lvl1pPr marL="0" indent="0" algn="l">
              <a:buNone/>
              <a:defRPr lang="en-US" sz="1100" b="1" kern="0" spc="300" dirty="0">
                <a:solidFill>
                  <a:schemeClr val="accent1"/>
                </a:solidFill>
              </a:defRPr>
            </a:lvl1pPr>
          </a:lstStyle>
          <a:p>
            <a:pPr marL="0" indent="0" algn="l">
              <a:buNone/>
            </a:pPr>
            <a:endParaRPr lang="en-US" sz="1100" dirty="0"/>
          </a:p>
        </p:txBody>
      </p:sp>
      <p:sp>
        <p:nvSpPr>
          <p:cNvPr id="3" name="Text 0"/>
          <p:cNvSpPr>
            <a:spLocks noGrp="1"/>
          </p:cNvSpPr>
          <p:nvPr>
            <p:ph type="title" idx="101" hasCustomPrompt="1"/>
          </p:nvPr>
        </p:nvSpPr>
        <p:spPr>
          <a:xfrm>
            <a:off x="548640" y="603504"/>
            <a:ext cx="8046720" cy="566928"/>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4" name="Text 0"/>
          <p:cNvSpPr/>
          <p:nvPr/>
        </p:nvSpPr>
        <p:spPr>
          <a:xfrm>
            <a:off x="548640" y="4754880"/>
            <a:ext cx="5486400" cy="228600"/>
          </a:xfrm>
          <a:prstGeom prst="rect">
            <a:avLst/>
          </a:prstGeom>
          <a:noFill/>
          <a:ln/>
        </p:spPr>
        <p:txBody>
          <a:bodyPr wrap="square" lIns="0" tIns="0" rIns="0" bIns="0" rtlCol="0" anchor="ctr"/>
          <a:lstStyle/>
          <a:p>
            <a:pPr marL="0" indent="0">
              <a:buNone/>
            </a:pPr>
            <a:r>
              <a:rPr lang="en-US" sz="1000" dirty="0">
                <a:solidFill>
                  <a:schemeClr val="tx2"/>
                </a:solidFill>
              </a:rPr>
              <a:t>The Knapsack Problem  ·  Greedy vs Dynamic Programming</a:t>
            </a:r>
            <a:endParaRPr lang="en-US" sz="10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B1D14"/>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046720" cy="237744"/>
          </a:xfrm>
          <a:prstGeom prst="rect">
            <a:avLst/>
          </a:prstGeom>
          <a:noFill/>
          <a:ln/>
        </p:spPr>
        <p:txBody>
          <a:bodyPr wrap="square" rtlCol="0"/>
          <a:lstStyle>
            <a:lvl1pPr marL="0" indent="0" algn="l">
              <a:buNone/>
              <a:defRPr lang="en-US" sz="1100" b="1" kern="0" spc="300" dirty="0">
                <a:solidFill>
                  <a:schemeClr val="accent5"/>
                </a:solidFill>
              </a:defRPr>
            </a:lvl1pPr>
          </a:lstStyle>
          <a:p>
            <a:pPr marL="0" indent="0" algn="l">
              <a:buNone/>
            </a:pPr>
            <a:endParaRPr lang="en-US" sz="1100" dirty="0"/>
          </a:p>
        </p:txBody>
      </p:sp>
      <p:sp>
        <p:nvSpPr>
          <p:cNvPr id="3" name="Text 0"/>
          <p:cNvSpPr>
            <a:spLocks noGrp="1"/>
          </p:cNvSpPr>
          <p:nvPr>
            <p:ph type="title" idx="101" hasCustomPrompt="1"/>
          </p:nvPr>
        </p:nvSpPr>
        <p:spPr>
          <a:xfrm>
            <a:off x="548640" y="603504"/>
            <a:ext cx="8046720" cy="566928"/>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4" name="Text 0"/>
          <p:cNvSpPr/>
          <p:nvPr/>
        </p:nvSpPr>
        <p:spPr>
          <a:xfrm>
            <a:off x="548640" y="4754880"/>
            <a:ext cx="5486400" cy="228600"/>
          </a:xfrm>
          <a:prstGeom prst="rect">
            <a:avLst/>
          </a:prstGeom>
          <a:noFill/>
          <a:ln/>
        </p:spPr>
        <p:txBody>
          <a:bodyPr wrap="square" lIns="0" tIns="0" rIns="0" bIns="0" rtlCol="0" anchor="ctr"/>
          <a:lstStyle/>
          <a:p>
            <a:pPr marL="0" indent="0">
              <a:buNone/>
            </a:pPr>
            <a:r>
              <a:rPr lang="en-US" sz="1000" dirty="0">
                <a:solidFill>
                  <a:schemeClr val="accent4"/>
                </a:solidFill>
              </a:rPr>
              <a:t>The Knapsack Problem  ·  Greedy vs Dynamic Programming</a:t>
            </a:r>
            <a:endParaRPr lang="en-US" sz="10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2B1D14"/>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548640"/>
            <a:ext cx="8046720" cy="274320"/>
          </a:xfrm>
          <a:prstGeom prst="rect">
            <a:avLst/>
          </a:prstGeom>
          <a:noFill/>
          <a:ln/>
        </p:spPr>
        <p:txBody>
          <a:bodyPr wrap="square" rtlCol="0"/>
          <a:lstStyle>
            <a:lvl1pPr marL="0" indent="0" algn="l">
              <a:buNone/>
              <a:defRPr lang="en-US" sz="1100" b="1" kern="0" spc="300" dirty="0">
                <a:solidFill>
                  <a:schemeClr val="accent5"/>
                </a:solidFill>
              </a:defRPr>
            </a:lvl1pPr>
          </a:lstStyle>
          <a:p>
            <a:pPr marL="0" indent="0" algn="l">
              <a:buNone/>
            </a:pPr>
            <a:endParaRPr lang="en-US" sz="1100" dirty="0"/>
          </a:p>
        </p:txBody>
      </p:sp>
      <p:sp>
        <p:nvSpPr>
          <p:cNvPr id="3" name="Text 0"/>
          <p:cNvSpPr>
            <a:spLocks noGrp="1"/>
          </p:cNvSpPr>
          <p:nvPr>
            <p:ph type="title" idx="101" hasCustomPrompt="1"/>
          </p:nvPr>
        </p:nvSpPr>
        <p:spPr>
          <a:xfrm>
            <a:off x="548640" y="1097280"/>
            <a:ext cx="8046720" cy="914400"/>
          </a:xfrm>
          <a:prstGeom prst="rect">
            <a:avLst/>
          </a:prstGeom>
          <a:noFill/>
          <a:ln/>
        </p:spPr>
        <p:txBody>
          <a:bodyPr wrap="square" rtlCol="0"/>
          <a:lstStyle>
            <a:lvl1pPr marL="0" indent="0" algn="l">
              <a:buNone/>
              <a:defRPr lang="en-US" sz="5000" b="1" dirty="0">
                <a:solidFill>
                  <a:schemeClr val="bg1"/>
                </a:solidFill>
              </a:defRPr>
            </a:lvl1pPr>
          </a:lstStyle>
          <a:p>
            <a:pPr marL="0" indent="0" algn="l">
              <a:buNone/>
            </a:pPr>
            <a:endParaRPr lang="en-US" sz="5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548640"/>
            <a:ext cx="8046720" cy="274320"/>
          </a:xfrm>
          <a:prstGeom prst="rect">
            <a:avLst/>
          </a:prstGeom>
          <a:noFill/>
          <a:ln/>
        </p:spPr>
        <p:txBody>
          <a:bodyPr wrap="square" lIns="0" tIns="0" rIns="0" bIns="0" rtlCol="0" anchor="ctr"/>
          <a:lstStyle/>
          <a:p>
            <a:pPr marL="0" indent="0" algn="l">
              <a:buNone/>
            </a:pPr>
            <a:r>
              <a:rPr lang="en-US" sz="1100" b="1" kern="0" spc="300" dirty="0">
                <a:solidFill>
                  <a:schemeClr val="accent5"/>
                </a:solidFill>
              </a:rPr>
              <a:t>THE KNAPSACK PROBLEM: GREEDY METHOD VS DYNAMIC PROGRAMMING</a:t>
            </a:r>
            <a:endParaRPr lang="en-US" sz="1100" dirty="0"/>
          </a:p>
        </p:txBody>
      </p:sp>
      <p:sp>
        <p:nvSpPr>
          <p:cNvPr id="3" name="Text 0"/>
          <p:cNvSpPr>
            <a:spLocks noGrp="1"/>
          </p:cNvSpPr>
          <p:nvPr>
            <p:ph type="title" idx="101" hasCustomPrompt="1"/>
          </p:nvPr>
        </p:nvSpPr>
        <p:spPr>
          <a:xfrm>
            <a:off x="548640" y="1097280"/>
            <a:ext cx="8046720" cy="914400"/>
          </a:xfrm>
          <a:prstGeom prst="rect">
            <a:avLst/>
          </a:prstGeom>
          <a:noFill/>
          <a:ln/>
        </p:spPr>
        <p:txBody>
          <a:bodyPr wrap="square" lIns="0" tIns="0" rIns="0" bIns="0" rtlCol="0" anchor="ctr"/>
          <a:lstStyle/>
          <a:p>
            <a:pPr marL="0" indent="0" algn="l">
              <a:buNone/>
            </a:pPr>
            <a:r>
              <a:rPr lang="en-US" sz="5000" b="1" dirty="0">
                <a:solidFill>
                  <a:schemeClr val="bg1"/>
                </a:solidFill>
              </a:rPr>
              <a:t>The Last 10 Kilograms</a:t>
            </a:r>
            <a:endParaRPr lang="en-US" sz="5000" dirty="0"/>
          </a:p>
        </p:txBody>
      </p:sp>
      <p:sp>
        <p:nvSpPr>
          <p:cNvPr id="4" name="Text 2"/>
          <p:cNvSpPr txBox="1"/>
          <p:nvPr/>
        </p:nvSpPr>
        <p:spPr>
          <a:xfrm>
            <a:off x="548640" y="2103120"/>
            <a:ext cx="8046720" cy="457200"/>
          </a:xfrm>
          <a:prstGeom prst="rect">
            <a:avLst/>
          </a:prstGeom>
          <a:noFill/>
          <a:ln/>
        </p:spPr>
        <p:txBody>
          <a:bodyPr wrap="square" lIns="0" tIns="0" rIns="0" bIns="0" rtlCol="0" anchor="t"/>
          <a:lstStyle/>
          <a:p>
            <a:pPr marL="0" indent="0">
              <a:buNone/>
            </a:pPr>
            <a:r>
              <a:rPr lang="en-US" sz="2600" i="1" dirty="0">
                <a:solidFill>
                  <a:schemeClr val="accent5"/>
                </a:solidFill>
                <a:latin typeface="+mj-lt" pitchFamily="34" charset="0"/>
                <a:ea typeface="+mj-lt" pitchFamily="34" charset="-122"/>
                <a:cs typeface="+mj-lt" pitchFamily="34" charset="-120"/>
              </a:rPr>
              <a:t>Greedy vs Dynamic Programming</a:t>
            </a:r>
            <a:endParaRPr lang="en-US" sz="2600" dirty="0"/>
          </a:p>
        </p:txBody>
      </p:sp>
      <p:sp>
        <p:nvSpPr>
          <p:cNvPr id="17" name="Text 15"/>
          <p:cNvSpPr txBox="1"/>
          <p:nvPr/>
        </p:nvSpPr>
        <p:spPr>
          <a:xfrm>
            <a:off x="657014" y="2857500"/>
            <a:ext cx="8046720" cy="274320"/>
          </a:xfrm>
          <a:prstGeom prst="rect">
            <a:avLst/>
          </a:prstGeom>
          <a:noFill/>
          <a:ln/>
        </p:spPr>
        <p:txBody>
          <a:bodyPr wrap="square" lIns="0" tIns="0" rIns="0" bIns="0" rtlCol="0" anchor="ctr"/>
          <a:lstStyle/>
          <a:p>
            <a:pPr marL="0" indent="0">
              <a:buNone/>
            </a:pPr>
            <a:r>
              <a:rPr lang="en-US" sz="1600" dirty="0">
                <a:solidFill>
                  <a:schemeClr val="bg1"/>
                </a:solidFill>
              </a:rPr>
              <a:t>Name: Nidhi </a:t>
            </a:r>
            <a:r>
              <a:rPr lang="en-US" sz="1600" dirty="0" err="1">
                <a:solidFill>
                  <a:schemeClr val="bg1"/>
                </a:solidFill>
              </a:rPr>
              <a:t>Potle</a:t>
            </a:r>
            <a:r>
              <a:rPr lang="en-US" sz="1600" dirty="0">
                <a:solidFill>
                  <a:schemeClr val="bg1"/>
                </a:solidFill>
              </a:rPr>
              <a:t>   ·   PRN: 25070521121   ·   Sec: C        Sem: 3</a:t>
            </a:r>
            <a:endParaRPr lang="en-US" sz="1600" dirty="0"/>
          </a:p>
        </p:txBody>
      </p:sp>
      <p:sp>
        <p:nvSpPr>
          <p:cNvPr id="18" name="Text 16"/>
          <p:cNvSpPr txBox="1"/>
          <p:nvPr/>
        </p:nvSpPr>
        <p:spPr>
          <a:xfrm>
            <a:off x="548640" y="4526280"/>
            <a:ext cx="8046720" cy="228600"/>
          </a:xfrm>
          <a:prstGeom prst="rect">
            <a:avLst/>
          </a:prstGeom>
          <a:noFill/>
          <a:ln/>
        </p:spPr>
        <p:txBody>
          <a:bodyPr wrap="square" lIns="0" tIns="0" rIns="0" bIns="0" rtlCol="0" anchor="ctr"/>
          <a:lstStyle/>
          <a:p>
            <a:pPr marL="0" indent="0">
              <a:buNone/>
            </a:pPr>
            <a:r>
              <a:rPr lang="en-US" sz="1100" dirty="0">
                <a:solidFill>
                  <a:schemeClr val="accent4"/>
                </a:solidFill>
              </a:rPr>
              <a:t>Design and Analysis of Algorithms  ·  Undergraduate seminar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046720" cy="237744"/>
          </a:xfrm>
          <a:prstGeom prst="rect">
            <a:avLst/>
          </a:prstGeom>
          <a:noFill/>
          <a:ln/>
        </p:spPr>
        <p:txBody>
          <a:bodyPr wrap="square" lIns="0" tIns="0" rIns="0" bIns="0" rtlCol="0" anchor="ctr"/>
          <a:lstStyle/>
          <a:p>
            <a:pPr marL="0" indent="0" algn="l">
              <a:buNone/>
            </a:pPr>
            <a:r>
              <a:rPr lang="en-US" sz="1100" b="1" kern="0" spc="300" dirty="0">
                <a:solidFill>
                  <a:schemeClr val="accent1"/>
                </a:solidFill>
              </a:rPr>
              <a:t>02  ·  THE REAL-WORLD PROBLEM</a:t>
            </a:r>
            <a:endParaRPr lang="en-US" sz="1100" dirty="0"/>
          </a:p>
        </p:txBody>
      </p:sp>
      <p:sp>
        <p:nvSpPr>
          <p:cNvPr id="3" name="Text 0"/>
          <p:cNvSpPr>
            <a:spLocks noGrp="1"/>
          </p:cNvSpPr>
          <p:nvPr>
            <p:ph type="title" idx="101" hasCustomPrompt="1"/>
          </p:nvPr>
        </p:nvSpPr>
        <p:spPr>
          <a:xfrm>
            <a:off x="548640" y="603504"/>
            <a:ext cx="8046720" cy="566928"/>
          </a:xfrm>
          <a:prstGeom prst="rect">
            <a:avLst/>
          </a:prstGeom>
          <a:noFill/>
          <a:ln/>
        </p:spPr>
        <p:txBody>
          <a:bodyPr wrap="square" lIns="0" tIns="0" rIns="0" bIns="0" rtlCol="0" anchor="ctr"/>
          <a:lstStyle/>
          <a:p>
            <a:pPr marL="0" indent="0" algn="l">
              <a:buNone/>
            </a:pPr>
            <a:r>
              <a:rPr lang="en-US" sz="3200" b="1" dirty="0">
                <a:solidFill>
                  <a:schemeClr val="tx1"/>
                </a:solidFill>
              </a:rPr>
              <a:t>The pack cannot hold it all</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3749040" cy="1920240"/>
        </p:xfrm>
        <a:graphic>
          <a:graphicData uri="http://schemas.openxmlformats.org/drawingml/2006/table">
            <a:tbl>
              <a:tblPr/>
              <a:tblGrid>
                <a:gridCol w="8229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84048">
                <a:tc>
                  <a:txBody>
                    <a:bodyPr/>
                    <a:lstStyle/>
                    <a:p>
                      <a:pPr marL="0" indent="0" algn="ctr">
                        <a:buNone/>
                      </a:pPr>
                      <a:r>
                        <a:rPr lang="en-US" sz="1100" b="1" dirty="0">
                          <a:solidFill>
                            <a:schemeClr val="tx2"/>
                          </a:solidFill>
                        </a:rPr>
                        <a:t>ITEM</a:t>
                      </a:r>
                      <a:endParaRPr lang="en-US" sz="1100" dirty="0"/>
                    </a:p>
                  </a:txBody>
                  <a:tcPr marL="73152" marR="73152" marT="0" marB="0"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tc>
                  <a:txBody>
                    <a:bodyPr/>
                    <a:lstStyle/>
                    <a:p>
                      <a:pPr marL="0" indent="0" algn="l">
                        <a:buNone/>
                      </a:pPr>
                      <a:r>
                        <a:rPr lang="en-US" sz="1100" b="1" dirty="0">
                          <a:solidFill>
                            <a:schemeClr val="tx2"/>
                          </a:solidFill>
                        </a:rPr>
                        <a:t>WEIGHT</a:t>
                      </a:r>
                      <a:endParaRPr lang="en-US" sz="1100" dirty="0"/>
                    </a:p>
                  </a:txBody>
                  <a:tcPr marL="73152" marR="73152" marT="0" marB="0"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tc>
                  <a:txBody>
                    <a:bodyPr/>
                    <a:lstStyle/>
                    <a:p>
                      <a:pPr marL="0" indent="0" algn="l">
                        <a:buNone/>
                      </a:pPr>
                      <a:r>
                        <a:rPr lang="en-US" sz="1100" b="1" dirty="0">
                          <a:solidFill>
                            <a:schemeClr val="tx2"/>
                          </a:solidFill>
                        </a:rPr>
                        <a:t>PROFIT</a:t>
                      </a:r>
                      <a:endParaRPr lang="en-US" sz="1100" dirty="0"/>
                    </a:p>
                  </a:txBody>
                  <a:tcPr marL="73152" marR="73152" marT="0" marB="0"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lgn="ctr">
                        <a:buNone/>
                      </a:pPr>
                      <a:r>
                        <a:rPr lang="en-US" sz="1600" b="1" dirty="0">
                          <a:solidFill>
                            <a:schemeClr val="bg1"/>
                          </a:solidFill>
                          <a:latin typeface="+mj-lt" pitchFamily="34" charset="0"/>
                          <a:ea typeface="+mj-lt" pitchFamily="34" charset="-122"/>
                          <a:cs typeface="+mj-lt" pitchFamily="34" charset="-120"/>
                        </a:rPr>
                        <a:t>A</a:t>
                      </a:r>
                      <a:endParaRPr lang="en-US" sz="1600" dirty="0">
                        <a:latin typeface="+mj-lt" charset="0"/>
                        <a:ea typeface="+mj-lt" charset="0"/>
                        <a:cs typeface="+mj-lt" charset="0"/>
                      </a:endParaRPr>
                    </a:p>
                  </a:txBody>
                  <a:tcPr marL="73152" marR="73152" marT="0" marB="0" anchor="ctr">
                    <a:lnL w="0" cap="flat" cmpd="sng" algn="ctr">
                      <a:noFill/>
                    </a:lnL>
                    <a:lnR w="0" cap="flat" cmpd="sng" algn="ctr">
                      <a:noFill/>
                    </a:lnR>
                    <a:lnT w="12700" cap="flat" cmpd="sng" algn="ctr">
                      <a:solidFill>
                        <a:schemeClr val="tx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2"/>
                    </a:solidFill>
                  </a:tcPr>
                </a:tc>
                <a:tc>
                  <a:txBody>
                    <a:bodyPr/>
                    <a:lstStyle/>
                    <a:p>
                      <a:pPr marL="0" indent="0" algn="l">
                        <a:buNone/>
                      </a:pPr>
                      <a:r>
                        <a:rPr lang="en-US" sz="1600" dirty="0">
                          <a:solidFill>
                            <a:schemeClr val="tx1"/>
                          </a:solidFill>
                        </a:rPr>
                        <a:t>5 kg</a:t>
                      </a:r>
                      <a:endParaRPr lang="en-US" sz="1600" dirty="0"/>
                    </a:p>
                  </a:txBody>
                  <a:tcPr marL="73152" marR="73152" marT="0" marB="0" anchor="ctr">
                    <a:lnL w="0" cap="flat" cmpd="sng" algn="ctr">
                      <a:noFill/>
                    </a:lnL>
                    <a:lnR w="0" cap="flat" cmpd="sng" algn="ctr">
                      <a:noFill/>
                    </a:lnR>
                    <a:lnT w="12700" cap="flat" cmpd="sng" algn="ctr">
                      <a:solidFill>
                        <a:schemeClr val="tx1"/>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l">
                        <a:buNone/>
                      </a:pPr>
                      <a:r>
                        <a:rPr lang="en-US" sz="1600" dirty="0">
                          <a:solidFill>
                            <a:schemeClr val="tx1"/>
                          </a:solidFill>
                        </a:rPr>
                        <a:t>30</a:t>
                      </a:r>
                      <a:endParaRPr lang="en-US" sz="1600" dirty="0"/>
                    </a:p>
                  </a:txBody>
                  <a:tcPr marL="73152" marR="73152" marT="0" marB="0" anchor="ctr">
                    <a:lnL w="0" cap="flat" cmpd="sng" algn="ctr">
                      <a:noFill/>
                    </a:lnL>
                    <a:lnR w="0" cap="flat" cmpd="sng" algn="ctr">
                      <a:noFill/>
                    </a:lnR>
                    <a:lnT w="12700" cap="flat" cmpd="sng" algn="ctr">
                      <a:solidFill>
                        <a:schemeClr val="tx1"/>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600" b="1" dirty="0">
                          <a:solidFill>
                            <a:schemeClr val="bg1"/>
                          </a:solidFill>
                          <a:latin typeface="+mj-lt" pitchFamily="34" charset="0"/>
                          <a:ea typeface="+mj-lt" pitchFamily="34" charset="-122"/>
                          <a:cs typeface="+mj-lt" pitchFamily="34" charset="-120"/>
                        </a:rPr>
                        <a:t>B</a:t>
                      </a:r>
                      <a:endParaRPr lang="en-US" sz="1600" dirty="0">
                        <a:latin typeface="+mj-lt" charset="0"/>
                        <a:ea typeface="+mj-lt" charset="0"/>
                        <a:cs typeface="+mj-lt" charset="0"/>
                      </a:endParaRPr>
                    </a:p>
                  </a:txBody>
                  <a:tcPr marL="73152" marR="73152" marT="0" marB="0" anchor="ctr">
                    <a:lnL w="0" cap="flat" cmpd="sng" algn="ctr">
                      <a:noFill/>
                    </a:lnL>
                    <a:lnR w="0" cap="flat" cmpd="sng" algn="ctr">
                      <a:noFill/>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solidFill>
                  </a:tcPr>
                </a:tc>
                <a:tc>
                  <a:txBody>
                    <a:bodyPr/>
                    <a:lstStyle/>
                    <a:p>
                      <a:pPr marL="0" indent="0" algn="l">
                        <a:buNone/>
                      </a:pPr>
                      <a:r>
                        <a:rPr lang="en-US" sz="1600" dirty="0">
                          <a:solidFill>
                            <a:schemeClr val="tx1"/>
                          </a:solidFill>
                        </a:rPr>
                        <a:t>4 kg</a:t>
                      </a:r>
                      <a:endParaRPr lang="en-US" sz="1600" dirty="0"/>
                    </a:p>
                  </a:txBody>
                  <a:tcPr marL="73152" marR="73152" marT="0" marB="0"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l">
                        <a:buNone/>
                      </a:pPr>
                      <a:r>
                        <a:rPr lang="en-US" sz="1600" dirty="0">
                          <a:solidFill>
                            <a:schemeClr val="tx1"/>
                          </a:solidFill>
                        </a:rPr>
                        <a:t>20</a:t>
                      </a:r>
                      <a:endParaRPr lang="en-US" sz="1600" dirty="0"/>
                    </a:p>
                  </a:txBody>
                  <a:tcPr marL="73152" marR="73152" marT="0" marB="0"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600" b="1" dirty="0">
                          <a:solidFill>
                            <a:schemeClr val="tx1"/>
                          </a:solidFill>
                          <a:latin typeface="+mj-lt" pitchFamily="34" charset="0"/>
                          <a:ea typeface="+mj-lt" pitchFamily="34" charset="-122"/>
                          <a:cs typeface="+mj-lt" pitchFamily="34" charset="-120"/>
                        </a:rPr>
                        <a:t>C</a:t>
                      </a:r>
                      <a:endParaRPr lang="en-US" sz="1600" dirty="0">
                        <a:latin typeface="+mj-lt" charset="0"/>
                        <a:ea typeface="+mj-lt" charset="0"/>
                        <a:cs typeface="+mj-lt" charset="0"/>
                      </a:endParaRPr>
                    </a:p>
                  </a:txBody>
                  <a:tcPr marL="73152" marR="73152" marT="0" marB="0" anchor="ctr">
                    <a:lnL w="0" cap="flat" cmpd="sng" algn="ctr">
                      <a:noFill/>
                    </a:lnL>
                    <a:lnR w="0" cap="flat" cmpd="sng" algn="ctr">
                      <a:noFill/>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solidFill>
                  </a:tcPr>
                </a:tc>
                <a:tc>
                  <a:txBody>
                    <a:bodyPr/>
                    <a:lstStyle/>
                    <a:p>
                      <a:pPr marL="0" indent="0" algn="l">
                        <a:buNone/>
                      </a:pPr>
                      <a:r>
                        <a:rPr lang="en-US" sz="1600" dirty="0">
                          <a:solidFill>
                            <a:schemeClr val="tx1"/>
                          </a:solidFill>
                        </a:rPr>
                        <a:t>6 kg</a:t>
                      </a:r>
                      <a:endParaRPr lang="en-US" sz="1600" dirty="0"/>
                    </a:p>
                  </a:txBody>
                  <a:tcPr marL="73152" marR="73152" marT="0" marB="0"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l">
                        <a:buNone/>
                      </a:pPr>
                      <a:r>
                        <a:rPr lang="en-US" sz="1600" dirty="0">
                          <a:solidFill>
                            <a:schemeClr val="tx1"/>
                          </a:solidFill>
                        </a:rPr>
                        <a:t>18</a:t>
                      </a:r>
                      <a:endParaRPr lang="en-US" sz="1600" dirty="0"/>
                    </a:p>
                  </a:txBody>
                  <a:tcPr marL="73152" marR="73152" marT="0" marB="0"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600" b="1" dirty="0">
                          <a:solidFill>
                            <a:schemeClr val="tx1"/>
                          </a:solidFill>
                        </a:rPr>
                        <a:t>All</a:t>
                      </a:r>
                      <a:endParaRPr lang="en-US" sz="1600" dirty="0"/>
                    </a:p>
                  </a:txBody>
                  <a:tcPr marL="73152" marR="73152" marT="0" marB="0" anchor="ctr">
                    <a:lnL w="0" cap="flat" cmpd="sng" algn="ctr">
                      <a:noFill/>
                    </a:lnL>
                    <a:lnR w="0" cap="flat" cmpd="sng" algn="ctr">
                      <a:noFill/>
                    </a:lnR>
                    <a:lnT w="19050" cap="flat" cmpd="sng" algn="ctr">
                      <a:solidFill>
                        <a:schemeClr val="bg1"/>
                      </a:solidFill>
                      <a:prstDash val="solid"/>
                      <a:round/>
                      <a:headEnd type="none" w="med" len="med"/>
                      <a:tailEnd type="none" w="med" len="med"/>
                    </a:lnT>
                    <a:lnB w="0" cap="flat" cmpd="sng" algn="ctr">
                      <a:noFill/>
                    </a:lnB>
                  </a:tcPr>
                </a:tc>
                <a:tc>
                  <a:txBody>
                    <a:bodyPr/>
                    <a:lstStyle/>
                    <a:p>
                      <a:pPr marL="0" indent="0">
                        <a:buNone/>
                      </a:pPr>
                      <a:r>
                        <a:rPr lang="en-US" sz="1600" b="1" dirty="0">
                          <a:solidFill>
                            <a:schemeClr val="tx1"/>
                          </a:solidFill>
                        </a:rPr>
                        <a:t>15 kg</a:t>
                      </a:r>
                      <a:endParaRPr lang="en-US" sz="1600" dirty="0"/>
                    </a:p>
                  </a:txBody>
                  <a:tcPr marL="73152" marR="73152" marT="0" marB="0" anchor="ctr">
                    <a:lnL w="0" cap="flat" cmpd="sng" algn="ctr">
                      <a:noFill/>
                    </a:lnL>
                    <a:lnR w="0" cap="flat" cmpd="sng" algn="ctr">
                      <a:noFill/>
                    </a:lnR>
                    <a:lnT w="9525" cap="flat" cmpd="sng" algn="ctr">
                      <a:solidFill>
                        <a:schemeClr val="accent4"/>
                      </a:solidFill>
                      <a:prstDash val="solid"/>
                      <a:round/>
                      <a:headEnd type="none" w="med" len="med"/>
                      <a:tailEnd type="none" w="med" len="med"/>
                    </a:lnT>
                    <a:lnB w="0" cap="flat" cmpd="sng" algn="ctr">
                      <a:noFill/>
                    </a:lnB>
                  </a:tcPr>
                </a:tc>
                <a:tc>
                  <a:txBody>
                    <a:bodyPr/>
                    <a:lstStyle/>
                    <a:p>
                      <a:pPr marL="0" indent="0">
                        <a:buNone/>
                      </a:pPr>
                      <a:r>
                        <a:rPr lang="en-US" sz="1600" b="1" dirty="0">
                          <a:solidFill>
                            <a:schemeClr val="tx1"/>
                          </a:solidFill>
                        </a:rPr>
                        <a:t>68</a:t>
                      </a:r>
                      <a:endParaRPr lang="en-US" sz="1600" dirty="0"/>
                    </a:p>
                  </a:txBody>
                  <a:tcPr marL="73152" marR="73152" marT="0" marB="0" anchor="ctr">
                    <a:lnL w="0" cap="flat" cmpd="sng" algn="ctr">
                      <a:noFill/>
                    </a:lnL>
                    <a:lnR w="0" cap="flat" cmpd="sng" algn="ctr">
                      <a:noFill/>
                    </a:lnR>
                    <a:lnT w="9525" cap="flat" cmpd="sng" algn="ctr">
                      <a:solidFill>
                        <a:schemeClr val="accent4"/>
                      </a:solid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bl>
          </a:graphicData>
        </a:graphic>
      </p:graphicFrame>
      <p:sp>
        <p:nvSpPr>
          <p:cNvPr id="5" name="Text 2"/>
          <p:cNvSpPr txBox="1"/>
          <p:nvPr/>
        </p:nvSpPr>
        <p:spPr>
          <a:xfrm>
            <a:off x="4754880" y="1417320"/>
            <a:ext cx="3840480" cy="228600"/>
          </a:xfrm>
          <a:prstGeom prst="rect">
            <a:avLst/>
          </a:prstGeom>
          <a:noFill/>
          <a:ln/>
        </p:spPr>
        <p:txBody>
          <a:bodyPr wrap="square" lIns="0" tIns="0" rIns="0" bIns="0" rtlCol="0" anchor="ctr"/>
          <a:lstStyle/>
          <a:p>
            <a:pPr marL="0" indent="0">
              <a:buNone/>
            </a:pPr>
            <a:r>
              <a:rPr lang="en-US" sz="1100" b="1" kern="0" spc="300" dirty="0">
                <a:solidFill>
                  <a:schemeClr val="accent1"/>
                </a:solidFill>
              </a:rPr>
              <a:t>KNAPSACK CAPACITY</a:t>
            </a:r>
            <a:endParaRPr lang="en-US" sz="1100" dirty="0"/>
          </a:p>
        </p:txBody>
      </p:sp>
      <p:sp>
        <p:nvSpPr>
          <p:cNvPr id="6" name="Text 3"/>
          <p:cNvSpPr txBox="1"/>
          <p:nvPr/>
        </p:nvSpPr>
        <p:spPr>
          <a:xfrm>
            <a:off x="4754880" y="1645920"/>
            <a:ext cx="3840480" cy="914400"/>
          </a:xfrm>
          <a:prstGeom prst="rect">
            <a:avLst/>
          </a:prstGeom>
          <a:noFill/>
          <a:ln/>
        </p:spPr>
        <p:txBody>
          <a:bodyPr wrap="square" lIns="0" tIns="0" rIns="0" bIns="0" rtlCol="0" anchor="b"/>
          <a:lstStyle/>
          <a:p>
            <a:pPr marL="0" indent="0">
              <a:buNone/>
            </a:pPr>
            <a:r>
              <a:rPr lang="en-US" sz="6000" b="1" dirty="0">
                <a:solidFill>
                  <a:schemeClr val="tx1"/>
                </a:solidFill>
                <a:latin typeface="+mj-lt" pitchFamily="34" charset="0"/>
                <a:ea typeface="+mj-lt" pitchFamily="34" charset="-122"/>
                <a:cs typeface="+mj-lt" pitchFamily="34" charset="-120"/>
              </a:rPr>
              <a:t>10</a:t>
            </a:r>
            <a:r>
              <a:rPr lang="en-US" sz="2400" dirty="0">
                <a:solidFill>
                  <a:schemeClr val="tx2"/>
                </a:solidFill>
                <a:latin typeface="+mj-lt" pitchFamily="34" charset="0"/>
                <a:ea typeface="+mj-lt" pitchFamily="34" charset="-122"/>
                <a:cs typeface="+mj-lt" pitchFamily="34" charset="-120"/>
              </a:rPr>
              <a:t> kg</a:t>
            </a:r>
            <a:endParaRPr lang="en-US" sz="6000" dirty="0"/>
          </a:p>
        </p:txBody>
      </p:sp>
      <p:sp>
        <p:nvSpPr>
          <p:cNvPr id="7" name="Item A · 5"/>
          <p:cNvSpPr txBox="1"/>
          <p:nvPr/>
        </p:nvSpPr>
        <p:spPr>
          <a:xfrm>
            <a:off x="4754880" y="2971800"/>
            <a:ext cx="1280160" cy="457200"/>
          </a:xfrm>
          <a:prstGeom prst="rect">
            <a:avLst/>
          </a:prstGeom>
          <a:solidFill>
            <a:schemeClr val="accent2"/>
          </a:solidFill>
          <a:ln w="19050">
            <a:solidFill>
              <a:schemeClr val="bg1"/>
            </a:solidFill>
          </a:ln>
        </p:spPr>
        <p:txBody>
          <a:bodyPr wrap="square" lIns="0" tIns="0" rIns="0" bIns="0" rtlCol="0" anchor="ctr"/>
          <a:lstStyle/>
          <a:p>
            <a:pPr marL="0" indent="0" algn="ctr">
              <a:buNone/>
            </a:pPr>
            <a:r>
              <a:rPr lang="en-US" sz="1300" b="1" dirty="0">
                <a:solidFill>
                  <a:schemeClr val="bg1"/>
                </a:solidFill>
              </a:rPr>
              <a:t>A · 5</a:t>
            </a:r>
            <a:endParaRPr lang="en-US" sz="1300" dirty="0"/>
          </a:p>
        </p:txBody>
      </p:sp>
      <p:sp>
        <p:nvSpPr>
          <p:cNvPr id="8" name="Item B · 4"/>
          <p:cNvSpPr txBox="1"/>
          <p:nvPr/>
        </p:nvSpPr>
        <p:spPr>
          <a:xfrm>
            <a:off x="6035040" y="2971800"/>
            <a:ext cx="1024128" cy="457200"/>
          </a:xfrm>
          <a:prstGeom prst="rect">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bg1"/>
                </a:solidFill>
              </a:rPr>
              <a:t>B · 4</a:t>
            </a:r>
            <a:endParaRPr lang="en-US" sz="1300" dirty="0"/>
          </a:p>
        </p:txBody>
      </p:sp>
      <p:sp>
        <p:nvSpPr>
          <p:cNvPr id="9" name="Item "/>
          <p:cNvSpPr txBox="1"/>
          <p:nvPr/>
        </p:nvSpPr>
        <p:spPr>
          <a:xfrm>
            <a:off x="7059168" y="2971800"/>
            <a:ext cx="1536192" cy="457200"/>
          </a:xfrm>
          <a:prstGeom prst="rect">
            <a:avLst/>
          </a:prstGeom>
          <a:solidFill>
            <a:schemeClr val="accent4"/>
          </a:solidFill>
          <a:ln w="19050">
            <a:solidFill>
              <a:schemeClr val="bg1"/>
            </a:solidFill>
          </a:ln>
        </p:spPr>
        <p:txBody>
          <a:bodyPr wrap="square" lIns="0" tIns="0" rIns="0" bIns="0" rtlCol="0" anchor="ctr"/>
          <a:lstStyle/>
          <a:p>
            <a:pPr marL="0" indent="0" algn="ctr">
              <a:buNone/>
            </a:pPr>
            <a:endParaRPr lang="en-US" sz="1300" dirty="0"/>
          </a:p>
        </p:txBody>
      </p:sp>
      <p:sp>
        <p:nvSpPr>
          <p:cNvPr id="10" name="Overflow zone"/>
          <p:cNvSpPr/>
          <p:nvPr/>
        </p:nvSpPr>
        <p:spPr>
          <a:xfrm>
            <a:off x="7315200" y="2971800"/>
            <a:ext cx="1280160" cy="457200"/>
          </a:xfrm>
          <a:prstGeom prst="rect">
            <a:avLst/>
          </a:prstGeom>
          <a:solidFill>
            <a:schemeClr val="accent1">
              <a:alpha val="28000"/>
            </a:schemeClr>
          </a:solidFill>
          <a:ln/>
        </p:spPr>
      </p:sp>
      <p:sp>
        <p:nvSpPr>
          <p:cNvPr id="11" name="Capacity limit"/>
          <p:cNvSpPr/>
          <p:nvPr/>
        </p:nvSpPr>
        <p:spPr>
          <a:xfrm>
            <a:off x="7315200" y="2788920"/>
            <a:ext cx="0" cy="822960"/>
          </a:xfrm>
          <a:prstGeom prst="line">
            <a:avLst/>
          </a:prstGeom>
          <a:noFill/>
          <a:ln w="25400">
            <a:solidFill>
              <a:schemeClr val="accent1"/>
            </a:solidFill>
            <a:prstDash val="solid"/>
          </a:ln>
        </p:spPr>
      </p:sp>
      <p:sp>
        <p:nvSpPr>
          <p:cNvPr id="12" name="Text 9"/>
          <p:cNvSpPr txBox="1"/>
          <p:nvPr/>
        </p:nvSpPr>
        <p:spPr>
          <a:xfrm>
            <a:off x="7424928" y="2971800"/>
            <a:ext cx="1097280" cy="457200"/>
          </a:xfrm>
          <a:prstGeom prst="rect">
            <a:avLst/>
          </a:prstGeom>
          <a:noFill/>
          <a:ln/>
        </p:spPr>
        <p:txBody>
          <a:bodyPr wrap="square" lIns="0" tIns="0" rIns="0" bIns="0" rtlCol="0" anchor="ctr"/>
          <a:lstStyle/>
          <a:p>
            <a:pPr marL="0" indent="0">
              <a:buNone/>
            </a:pPr>
            <a:r>
              <a:rPr lang="en-US" sz="1300" b="1" dirty="0">
                <a:solidFill>
                  <a:schemeClr val="tx1"/>
                </a:solidFill>
              </a:rPr>
              <a:t>C · 6</a:t>
            </a:r>
            <a:endParaRPr lang="en-US" sz="1300" dirty="0"/>
          </a:p>
        </p:txBody>
      </p:sp>
      <p:sp>
        <p:nvSpPr>
          <p:cNvPr id="13" name="Text 10"/>
          <p:cNvSpPr txBox="1"/>
          <p:nvPr/>
        </p:nvSpPr>
        <p:spPr>
          <a:xfrm>
            <a:off x="6583680" y="2560320"/>
            <a:ext cx="1463040" cy="201168"/>
          </a:xfrm>
          <a:prstGeom prst="rect">
            <a:avLst/>
          </a:prstGeom>
          <a:noFill/>
          <a:ln/>
        </p:spPr>
        <p:txBody>
          <a:bodyPr wrap="square" lIns="0" tIns="0" rIns="0" bIns="0" rtlCol="0" anchor="t"/>
          <a:lstStyle/>
          <a:p>
            <a:pPr marL="0" indent="0" algn="ctr">
              <a:buNone/>
            </a:pPr>
            <a:r>
              <a:rPr lang="en-US" sz="1100" b="1" dirty="0">
                <a:solidFill>
                  <a:schemeClr val="accent1"/>
                </a:solidFill>
              </a:rPr>
              <a:t>capacity limit</a:t>
            </a:r>
            <a:endParaRPr lang="en-US" sz="1100" dirty="0"/>
          </a:p>
        </p:txBody>
      </p:sp>
      <p:sp>
        <p:nvSpPr>
          <p:cNvPr id="14" name="Text 11"/>
          <p:cNvSpPr txBox="1"/>
          <p:nvPr/>
        </p:nvSpPr>
        <p:spPr>
          <a:xfrm>
            <a:off x="4754880" y="3630168"/>
            <a:ext cx="3840480" cy="228600"/>
          </a:xfrm>
          <a:prstGeom prst="rect">
            <a:avLst/>
          </a:prstGeom>
          <a:noFill/>
          <a:ln/>
        </p:spPr>
        <p:txBody>
          <a:bodyPr wrap="square" lIns="0" tIns="0" rIns="0" bIns="0" rtlCol="0" anchor="t"/>
          <a:lstStyle/>
          <a:p>
            <a:pPr marL="0" indent="0">
              <a:buNone/>
            </a:pPr>
            <a:r>
              <a:rPr lang="en-US" sz="1300" dirty="0">
                <a:solidFill>
                  <a:schemeClr val="tx2"/>
                </a:solidFill>
              </a:rPr>
              <a:t>Together 15 kg: 5 kg over the limit</a:t>
            </a:r>
            <a:endParaRPr lang="en-US" sz="1300" dirty="0"/>
          </a:p>
        </p:txBody>
      </p:sp>
      <p:sp>
        <p:nvSpPr>
          <p:cNvPr id="15" name="Text 12"/>
          <p:cNvSpPr txBox="1"/>
          <p:nvPr/>
        </p:nvSpPr>
        <p:spPr>
          <a:xfrm>
            <a:off x="548640" y="4023360"/>
            <a:ext cx="8046720" cy="457200"/>
          </a:xfrm>
          <a:prstGeom prst="rect">
            <a:avLst/>
          </a:prstGeom>
          <a:noFill/>
          <a:ln/>
        </p:spPr>
        <p:txBody>
          <a:bodyPr wrap="square" lIns="0" tIns="0" rIns="0" bIns="0" rtlCol="0" anchor="ctr"/>
          <a:lstStyle/>
          <a:p>
            <a:pPr marL="0" indent="0">
              <a:buNone/>
            </a:pPr>
            <a:r>
              <a:rPr lang="en-US" sz="2000" i="1" dirty="0">
                <a:solidFill>
                  <a:schemeClr val="tx1"/>
                </a:solidFill>
                <a:latin typeface="+mj-lt" pitchFamily="34" charset="0"/>
                <a:ea typeface="+mj-lt" pitchFamily="34" charset="-122"/>
                <a:cs typeface="+mj-lt" pitchFamily="34" charset="-120"/>
              </a:rPr>
              <a:t>Which items give the most profit without breaking the limit?</a:t>
            </a:r>
            <a:endParaRPr lang="en-US" sz="20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046720" cy="237744"/>
          </a:xfrm>
          <a:prstGeom prst="rect">
            <a:avLst/>
          </a:prstGeom>
          <a:noFill/>
          <a:ln/>
        </p:spPr>
        <p:txBody>
          <a:bodyPr wrap="square" lIns="0" tIns="0" rIns="0" bIns="0" rtlCol="0" anchor="ctr"/>
          <a:lstStyle/>
          <a:p>
            <a:pPr marL="0" indent="0" algn="l">
              <a:buNone/>
            </a:pPr>
            <a:r>
              <a:rPr lang="en-US" sz="1100" b="1" kern="0" spc="300" dirty="0">
                <a:solidFill>
                  <a:schemeClr val="accent1"/>
                </a:solidFill>
              </a:rPr>
              <a:t>03  ·  TWO VARIANTS</a:t>
            </a:r>
            <a:endParaRPr lang="en-US" sz="1100" dirty="0"/>
          </a:p>
        </p:txBody>
      </p:sp>
      <p:sp>
        <p:nvSpPr>
          <p:cNvPr id="3" name="Text 0"/>
          <p:cNvSpPr>
            <a:spLocks noGrp="1"/>
          </p:cNvSpPr>
          <p:nvPr>
            <p:ph type="title" idx="101" hasCustomPrompt="1"/>
          </p:nvPr>
        </p:nvSpPr>
        <p:spPr>
          <a:xfrm>
            <a:off x="548640" y="603504"/>
            <a:ext cx="8046720" cy="566928"/>
          </a:xfrm>
          <a:prstGeom prst="rect">
            <a:avLst/>
          </a:prstGeom>
          <a:noFill/>
          <a:ln/>
        </p:spPr>
        <p:txBody>
          <a:bodyPr wrap="square" lIns="0" tIns="0" rIns="0" bIns="0" rtlCol="0" anchor="ctr"/>
          <a:lstStyle/>
          <a:p>
            <a:pPr marL="0" indent="0" algn="l">
              <a:buNone/>
            </a:pPr>
            <a:r>
              <a:rPr lang="en-US" sz="3200" b="1" dirty="0">
                <a:solidFill>
                  <a:schemeClr val="tx1"/>
                </a:solidFill>
              </a:rPr>
              <a:t>One pack, two sets of rules</a:t>
            </a:r>
            <a:endParaRPr lang="en-US" sz="3200" dirty="0"/>
          </a:p>
        </p:txBody>
      </p:sp>
      <p:sp>
        <p:nvSpPr>
          <p:cNvPr id="4" name="Panel 1"/>
          <p:cNvSpPr/>
          <p:nvPr/>
        </p:nvSpPr>
        <p:spPr>
          <a:xfrm>
            <a:off x="548640" y="1325880"/>
            <a:ext cx="3840480" cy="3154680"/>
          </a:xfrm>
          <a:prstGeom prst="rect">
            <a:avLst/>
          </a:prstGeom>
          <a:solidFill>
            <a:schemeClr val="bg2"/>
          </a:solidFill>
          <a:ln/>
        </p:spPr>
      </p:sp>
      <p:sp>
        <p:nvSpPr>
          <p:cNvPr id="5" name="Text 3"/>
          <p:cNvSpPr txBox="1"/>
          <p:nvPr/>
        </p:nvSpPr>
        <p:spPr>
          <a:xfrm>
            <a:off x="822960" y="1481328"/>
            <a:ext cx="3291840" cy="347472"/>
          </a:xfrm>
          <a:prstGeom prst="rect">
            <a:avLst/>
          </a:prstGeom>
          <a:noFill/>
          <a:ln/>
        </p:spPr>
        <p:txBody>
          <a:bodyPr wrap="square" lIns="0" tIns="0" rIns="0" bIns="0" rtlCol="0" anchor="ctr"/>
          <a:lstStyle/>
          <a:p>
            <a:pPr marL="0" indent="0">
              <a:buNone/>
            </a:pPr>
            <a:r>
              <a:rPr lang="en-US" sz="2000" b="1" dirty="0">
                <a:solidFill>
                  <a:schemeClr val="tx1"/>
                </a:solidFill>
                <a:latin typeface="+mj-lt" pitchFamily="34" charset="0"/>
                <a:ea typeface="+mj-lt" pitchFamily="34" charset="-122"/>
                <a:cs typeface="+mj-lt" pitchFamily="34" charset="-120"/>
              </a:rPr>
              <a:t>Fractional knapsack</a:t>
            </a:r>
            <a:endParaRPr lang="en-US" sz="2000" dirty="0"/>
          </a:p>
        </p:txBody>
      </p:sp>
      <p:sp>
        <p:nvSpPr>
          <p:cNvPr id="6" name="Text 4"/>
          <p:cNvSpPr txBox="1"/>
          <p:nvPr/>
        </p:nvSpPr>
        <p:spPr>
          <a:xfrm>
            <a:off x="822960" y="1847088"/>
            <a:ext cx="3291840" cy="228600"/>
          </a:xfrm>
          <a:prstGeom prst="rect">
            <a:avLst/>
          </a:prstGeom>
          <a:noFill/>
          <a:ln/>
        </p:spPr>
        <p:txBody>
          <a:bodyPr wrap="square" lIns="0" tIns="0" rIns="0" bIns="0" rtlCol="0" anchor="ctr"/>
          <a:lstStyle/>
          <a:p>
            <a:pPr marL="0" indent="0">
              <a:buNone/>
            </a:pPr>
            <a:r>
              <a:rPr lang="en-US" sz="1100" b="1" kern="0" spc="300" dirty="0">
                <a:solidFill>
                  <a:schemeClr val="accent1"/>
                </a:solidFill>
              </a:rPr>
              <a:t>ITEMS CAN BE SPLIT</a:t>
            </a:r>
            <a:endParaRPr lang="en-US" sz="1100" dirty="0"/>
          </a:p>
        </p:txBody>
      </p:sp>
      <p:sp>
        <p:nvSpPr>
          <p:cNvPr id="7" name="Text 5"/>
          <p:cNvSpPr txBox="1"/>
          <p:nvPr/>
        </p:nvSpPr>
        <p:spPr>
          <a:xfrm>
            <a:off x="822960" y="2176272"/>
            <a:ext cx="3291840" cy="246888"/>
          </a:xfrm>
          <a:prstGeom prst="rect">
            <a:avLst/>
          </a:prstGeom>
          <a:noFill/>
          <a:ln/>
        </p:spPr>
        <p:txBody>
          <a:bodyPr wrap="square" lIns="0" tIns="0" rIns="0" bIns="0" rtlCol="0" anchor="ctr"/>
          <a:lstStyle/>
          <a:p>
            <a:pPr marL="0" indent="0">
              <a:buNone/>
            </a:pPr>
            <a:r>
              <a:rPr lang="en-US" sz="1400" dirty="0">
                <a:solidFill>
                  <a:schemeClr val="tx1"/>
                </a:solidFill>
                <a:latin typeface="+mj-lt" pitchFamily="34" charset="0"/>
                <a:ea typeface="+mj-lt" pitchFamily="34" charset="-122"/>
                <a:cs typeface="+mj-lt" pitchFamily="34" charset="-120"/>
              </a:rPr>
              <a:t>maximize   Σ p</a:t>
            </a:r>
            <a:r>
              <a:rPr lang="en-US" sz="1400" baseline="-40000" dirty="0">
                <a:solidFill>
                  <a:schemeClr val="tx1"/>
                </a:solidFill>
                <a:latin typeface="+mj-lt" pitchFamily="34" charset="0"/>
                <a:ea typeface="+mj-lt" pitchFamily="34" charset="-122"/>
                <a:cs typeface="+mj-lt" pitchFamily="34" charset="-120"/>
              </a:rPr>
              <a:t>i</a:t>
            </a:r>
            <a:r>
              <a:rPr lang="en-US" sz="1400" dirty="0">
                <a:solidFill>
                  <a:schemeClr val="tx1"/>
                </a:solidFill>
                <a:latin typeface="+mj-lt" pitchFamily="34" charset="0"/>
                <a:ea typeface="+mj-lt" pitchFamily="34" charset="-122"/>
                <a:cs typeface="+mj-lt" pitchFamily="34" charset="-120"/>
              </a:rPr>
              <a:t> x</a:t>
            </a:r>
            <a:r>
              <a:rPr lang="en-US" sz="1400" baseline="-40000" dirty="0">
                <a:solidFill>
                  <a:schemeClr val="tx1"/>
                </a:solidFill>
                <a:latin typeface="+mj-lt" pitchFamily="34" charset="0"/>
                <a:ea typeface="+mj-lt" pitchFamily="34" charset="-122"/>
                <a:cs typeface="+mj-lt" pitchFamily="34" charset="-120"/>
              </a:rPr>
              <a:t>i</a:t>
            </a:r>
            <a:endParaRPr lang="en-US" sz="1400" dirty="0"/>
          </a:p>
        </p:txBody>
      </p:sp>
      <p:sp>
        <p:nvSpPr>
          <p:cNvPr id="8" name="Text 6"/>
          <p:cNvSpPr txBox="1"/>
          <p:nvPr/>
        </p:nvSpPr>
        <p:spPr>
          <a:xfrm>
            <a:off x="822960" y="2423160"/>
            <a:ext cx="3291840" cy="246888"/>
          </a:xfrm>
          <a:prstGeom prst="rect">
            <a:avLst/>
          </a:prstGeom>
          <a:noFill/>
          <a:ln/>
        </p:spPr>
        <p:txBody>
          <a:bodyPr wrap="square" lIns="0" tIns="0" rIns="0" bIns="0" rtlCol="0" anchor="ctr"/>
          <a:lstStyle/>
          <a:p>
            <a:pPr marL="0" indent="0">
              <a:buNone/>
            </a:pPr>
            <a:r>
              <a:rPr lang="en-US" sz="1400" dirty="0">
                <a:solidFill>
                  <a:schemeClr val="tx1"/>
                </a:solidFill>
                <a:latin typeface="+mj-lt" pitchFamily="34" charset="0"/>
                <a:ea typeface="+mj-lt" pitchFamily="34" charset="-122"/>
                <a:cs typeface="+mj-lt" pitchFamily="34" charset="-120"/>
              </a:rPr>
              <a:t>subject to   Σ w</a:t>
            </a:r>
            <a:r>
              <a:rPr lang="en-US" sz="1400" baseline="-40000" dirty="0">
                <a:solidFill>
                  <a:schemeClr val="tx1"/>
                </a:solidFill>
                <a:latin typeface="+mj-lt" pitchFamily="34" charset="0"/>
                <a:ea typeface="+mj-lt" pitchFamily="34" charset="-122"/>
                <a:cs typeface="+mj-lt" pitchFamily="34" charset="-120"/>
              </a:rPr>
              <a:t>i</a:t>
            </a:r>
            <a:r>
              <a:rPr lang="en-US" sz="1400" dirty="0">
                <a:solidFill>
                  <a:schemeClr val="tx1"/>
                </a:solidFill>
                <a:latin typeface="+mj-lt" pitchFamily="34" charset="0"/>
                <a:ea typeface="+mj-lt" pitchFamily="34" charset="-122"/>
                <a:cs typeface="+mj-lt" pitchFamily="34" charset="-120"/>
              </a:rPr>
              <a:t> x</a:t>
            </a:r>
            <a:r>
              <a:rPr lang="en-US" sz="1400" baseline="-40000" dirty="0">
                <a:solidFill>
                  <a:schemeClr val="tx1"/>
                </a:solidFill>
                <a:latin typeface="+mj-lt" pitchFamily="34" charset="0"/>
                <a:ea typeface="+mj-lt" pitchFamily="34" charset="-122"/>
                <a:cs typeface="+mj-lt" pitchFamily="34" charset="-120"/>
              </a:rPr>
              <a:t>i</a:t>
            </a:r>
            <a:r>
              <a:rPr lang="en-US" sz="1400" dirty="0">
                <a:solidFill>
                  <a:schemeClr val="tx1"/>
                </a:solidFill>
                <a:latin typeface="+mj-lt" pitchFamily="34" charset="0"/>
                <a:ea typeface="+mj-lt" pitchFamily="34" charset="-122"/>
                <a:cs typeface="+mj-lt" pitchFamily="34" charset="-120"/>
              </a:rPr>
              <a:t> ≤ W</a:t>
            </a:r>
            <a:endParaRPr lang="en-US" sz="1400" dirty="0"/>
          </a:p>
        </p:txBody>
      </p:sp>
      <p:sp>
        <p:nvSpPr>
          <p:cNvPr id="9" name="Text 7"/>
          <p:cNvSpPr txBox="1"/>
          <p:nvPr/>
        </p:nvSpPr>
        <p:spPr>
          <a:xfrm>
            <a:off x="822960" y="2670048"/>
            <a:ext cx="3291840" cy="246888"/>
          </a:xfrm>
          <a:prstGeom prst="rect">
            <a:avLst/>
          </a:prstGeom>
          <a:noFill/>
          <a:ln/>
        </p:spPr>
        <p:txBody>
          <a:bodyPr wrap="square" lIns="0" tIns="0" rIns="0" bIns="0" rtlCol="0" anchor="ctr"/>
          <a:lstStyle/>
          <a:p>
            <a:pPr marL="0" indent="0">
              <a:buNone/>
            </a:pPr>
            <a:r>
              <a:rPr lang="en-US" sz="1400" dirty="0">
                <a:solidFill>
                  <a:schemeClr val="tx1"/>
                </a:solidFill>
                <a:latin typeface="+mj-lt" pitchFamily="34" charset="0"/>
                <a:ea typeface="+mj-lt" pitchFamily="34" charset="-122"/>
                <a:cs typeface="+mj-lt" pitchFamily="34" charset="-120"/>
              </a:rPr>
              <a:t>x</a:t>
            </a:r>
            <a:r>
              <a:rPr lang="en-US" sz="1400" baseline="-40000" dirty="0">
                <a:solidFill>
                  <a:schemeClr val="tx1"/>
                </a:solidFill>
                <a:latin typeface="+mj-lt" pitchFamily="34" charset="0"/>
                <a:ea typeface="+mj-lt" pitchFamily="34" charset="-122"/>
                <a:cs typeface="+mj-lt" pitchFamily="34" charset="-120"/>
              </a:rPr>
              <a:t>i</a:t>
            </a:r>
            <a:r>
              <a:rPr lang="en-US" sz="1400" dirty="0">
                <a:solidFill>
                  <a:schemeClr val="tx1"/>
                </a:solidFill>
                <a:latin typeface="+mj-lt" pitchFamily="34" charset="0"/>
                <a:ea typeface="+mj-lt" pitchFamily="34" charset="-122"/>
                <a:cs typeface="+mj-lt" pitchFamily="34" charset="-120"/>
              </a:rPr>
              <a:t> ∈ [0, 1]</a:t>
            </a:r>
            <a:endParaRPr lang="en-US" sz="1400" dirty="0"/>
          </a:p>
        </p:txBody>
      </p:sp>
      <p:sp>
        <p:nvSpPr>
          <p:cNvPr id="10" name="Capacity outline"/>
          <p:cNvSpPr/>
          <p:nvPr/>
        </p:nvSpPr>
        <p:spPr>
          <a:xfrm>
            <a:off x="822960" y="3127248"/>
            <a:ext cx="3291840" cy="384048"/>
          </a:xfrm>
          <a:prstGeom prst="rect">
            <a:avLst/>
          </a:prstGeom>
          <a:solidFill>
            <a:schemeClr val="bg1"/>
          </a:solidFill>
          <a:ln w="12700">
            <a:solidFill>
              <a:schemeClr val="accent3"/>
            </a:solidFill>
            <a:prstDash val="solid"/>
          </a:ln>
        </p:spPr>
      </p:sp>
      <p:sp>
        <p:nvSpPr>
          <p:cNvPr id="11" name="Unit divider 1"/>
          <p:cNvSpPr/>
          <p:nvPr/>
        </p:nvSpPr>
        <p:spPr>
          <a:xfrm>
            <a:off x="1152144" y="3127248"/>
            <a:ext cx="0" cy="384048"/>
          </a:xfrm>
          <a:prstGeom prst="line">
            <a:avLst/>
          </a:prstGeom>
          <a:noFill/>
          <a:ln w="9525">
            <a:solidFill>
              <a:schemeClr val="accent4"/>
            </a:solidFill>
            <a:prstDash val="solid"/>
          </a:ln>
        </p:spPr>
      </p:sp>
      <p:sp>
        <p:nvSpPr>
          <p:cNvPr id="12" name="Unit divider 2"/>
          <p:cNvSpPr/>
          <p:nvPr/>
        </p:nvSpPr>
        <p:spPr>
          <a:xfrm>
            <a:off x="1481328" y="3127248"/>
            <a:ext cx="0" cy="384048"/>
          </a:xfrm>
          <a:prstGeom prst="line">
            <a:avLst/>
          </a:prstGeom>
          <a:noFill/>
          <a:ln w="9525">
            <a:solidFill>
              <a:schemeClr val="accent4"/>
            </a:solidFill>
            <a:prstDash val="solid"/>
          </a:ln>
        </p:spPr>
      </p:sp>
      <p:sp>
        <p:nvSpPr>
          <p:cNvPr id="13" name="Unit divider 3"/>
          <p:cNvSpPr/>
          <p:nvPr/>
        </p:nvSpPr>
        <p:spPr>
          <a:xfrm>
            <a:off x="1810512" y="3127248"/>
            <a:ext cx="0" cy="384048"/>
          </a:xfrm>
          <a:prstGeom prst="line">
            <a:avLst/>
          </a:prstGeom>
          <a:noFill/>
          <a:ln w="9525">
            <a:solidFill>
              <a:schemeClr val="accent4"/>
            </a:solidFill>
            <a:prstDash val="solid"/>
          </a:ln>
        </p:spPr>
      </p:sp>
      <p:sp>
        <p:nvSpPr>
          <p:cNvPr id="14" name="Unit divider 4"/>
          <p:cNvSpPr/>
          <p:nvPr/>
        </p:nvSpPr>
        <p:spPr>
          <a:xfrm>
            <a:off x="2139696" y="3127248"/>
            <a:ext cx="0" cy="384048"/>
          </a:xfrm>
          <a:prstGeom prst="line">
            <a:avLst/>
          </a:prstGeom>
          <a:noFill/>
          <a:ln w="9525">
            <a:solidFill>
              <a:schemeClr val="accent4"/>
            </a:solidFill>
            <a:prstDash val="solid"/>
          </a:ln>
        </p:spPr>
      </p:sp>
      <p:sp>
        <p:nvSpPr>
          <p:cNvPr id="15" name="Unit divider 5"/>
          <p:cNvSpPr/>
          <p:nvPr/>
        </p:nvSpPr>
        <p:spPr>
          <a:xfrm>
            <a:off x="2468880" y="3127248"/>
            <a:ext cx="0" cy="384048"/>
          </a:xfrm>
          <a:prstGeom prst="line">
            <a:avLst/>
          </a:prstGeom>
          <a:noFill/>
          <a:ln w="9525">
            <a:solidFill>
              <a:schemeClr val="accent4"/>
            </a:solidFill>
            <a:prstDash val="solid"/>
          </a:ln>
        </p:spPr>
      </p:sp>
      <p:sp>
        <p:nvSpPr>
          <p:cNvPr id="16" name="Unit divider 6"/>
          <p:cNvSpPr/>
          <p:nvPr/>
        </p:nvSpPr>
        <p:spPr>
          <a:xfrm>
            <a:off x="2798064" y="3127248"/>
            <a:ext cx="0" cy="384048"/>
          </a:xfrm>
          <a:prstGeom prst="line">
            <a:avLst/>
          </a:prstGeom>
          <a:noFill/>
          <a:ln w="9525">
            <a:solidFill>
              <a:schemeClr val="accent4"/>
            </a:solidFill>
            <a:prstDash val="solid"/>
          </a:ln>
        </p:spPr>
      </p:sp>
      <p:sp>
        <p:nvSpPr>
          <p:cNvPr id="17" name="Unit divider 7"/>
          <p:cNvSpPr/>
          <p:nvPr/>
        </p:nvSpPr>
        <p:spPr>
          <a:xfrm>
            <a:off x="3127248" y="3127248"/>
            <a:ext cx="0" cy="384048"/>
          </a:xfrm>
          <a:prstGeom prst="line">
            <a:avLst/>
          </a:prstGeom>
          <a:noFill/>
          <a:ln w="9525">
            <a:solidFill>
              <a:schemeClr val="accent4"/>
            </a:solidFill>
            <a:prstDash val="solid"/>
          </a:ln>
        </p:spPr>
      </p:sp>
      <p:sp>
        <p:nvSpPr>
          <p:cNvPr id="18" name="Unit divider 8"/>
          <p:cNvSpPr/>
          <p:nvPr/>
        </p:nvSpPr>
        <p:spPr>
          <a:xfrm>
            <a:off x="3456432" y="3127248"/>
            <a:ext cx="0" cy="384048"/>
          </a:xfrm>
          <a:prstGeom prst="line">
            <a:avLst/>
          </a:prstGeom>
          <a:noFill/>
          <a:ln w="9525">
            <a:solidFill>
              <a:schemeClr val="accent4"/>
            </a:solidFill>
            <a:prstDash val="solid"/>
          </a:ln>
        </p:spPr>
      </p:sp>
      <p:sp>
        <p:nvSpPr>
          <p:cNvPr id="19" name="Unit divider 9"/>
          <p:cNvSpPr/>
          <p:nvPr/>
        </p:nvSpPr>
        <p:spPr>
          <a:xfrm>
            <a:off x="3785616" y="3127248"/>
            <a:ext cx="0" cy="384048"/>
          </a:xfrm>
          <a:prstGeom prst="line">
            <a:avLst/>
          </a:prstGeom>
          <a:noFill/>
          <a:ln w="9525">
            <a:solidFill>
              <a:schemeClr val="accent4"/>
            </a:solidFill>
            <a:prstDash val="solid"/>
          </a:ln>
        </p:spPr>
      </p:sp>
      <p:sp>
        <p:nvSpPr>
          <p:cNvPr id="20" name="Segment 0"/>
          <p:cNvSpPr txBox="1"/>
          <p:nvPr/>
        </p:nvSpPr>
        <p:spPr>
          <a:xfrm>
            <a:off x="822960" y="3127248"/>
            <a:ext cx="1645920" cy="384048"/>
          </a:xfrm>
          <a:prstGeom prst="rect">
            <a:avLst/>
          </a:prstGeom>
          <a:solidFill>
            <a:schemeClr val="accent2"/>
          </a:solidFill>
          <a:ln w="19050">
            <a:solidFill>
              <a:schemeClr val="bg1"/>
            </a:solidFill>
          </a:ln>
        </p:spPr>
        <p:txBody>
          <a:bodyPr wrap="square" lIns="0" tIns="0" rIns="0" bIns="0" rtlCol="0" anchor="ctr"/>
          <a:lstStyle/>
          <a:p>
            <a:pPr marL="0" indent="0" algn="ctr">
              <a:buNone/>
            </a:pPr>
            <a:r>
              <a:rPr lang="en-US" sz="1300" b="1" dirty="0">
                <a:solidFill>
                  <a:schemeClr val="bg1"/>
                </a:solidFill>
              </a:rPr>
              <a:t>A · 5</a:t>
            </a:r>
            <a:endParaRPr lang="en-US" sz="1300" dirty="0"/>
          </a:p>
        </p:txBody>
      </p:sp>
      <p:sp>
        <p:nvSpPr>
          <p:cNvPr id="21" name="Segment 1"/>
          <p:cNvSpPr txBox="1"/>
          <p:nvPr/>
        </p:nvSpPr>
        <p:spPr>
          <a:xfrm>
            <a:off x="2468880" y="3127248"/>
            <a:ext cx="1316736" cy="384048"/>
          </a:xfrm>
          <a:prstGeom prst="rect">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bg1"/>
                </a:solidFill>
              </a:rPr>
              <a:t>B · 4</a:t>
            </a:r>
            <a:endParaRPr lang="en-US" sz="1300" dirty="0"/>
          </a:p>
        </p:txBody>
      </p:sp>
      <p:sp>
        <p:nvSpPr>
          <p:cNvPr id="22" name="Segment 2"/>
          <p:cNvSpPr txBox="1"/>
          <p:nvPr/>
        </p:nvSpPr>
        <p:spPr>
          <a:xfrm>
            <a:off x="3785616" y="3127248"/>
            <a:ext cx="329184" cy="384048"/>
          </a:xfrm>
          <a:prstGeom prst="rect">
            <a:avLst/>
          </a:prstGeom>
          <a:solidFill>
            <a:schemeClr val="accent4"/>
          </a:solidFill>
          <a:ln w="25400">
            <a:solidFill>
              <a:schemeClr val="accent1"/>
            </a:solidFill>
          </a:ln>
        </p:spPr>
        <p:txBody>
          <a:bodyPr wrap="square" lIns="0" tIns="0" rIns="0" bIns="0" rtlCol="0" anchor="ctr"/>
          <a:lstStyle/>
          <a:p>
            <a:pPr marL="0" indent="0" algn="ctr">
              <a:buNone/>
            </a:pPr>
            <a:r>
              <a:rPr lang="en-US" sz="1300" b="1" dirty="0">
                <a:solidFill>
                  <a:schemeClr val="tx1"/>
                </a:solidFill>
              </a:rPr>
              <a:t>C</a:t>
            </a:r>
            <a:endParaRPr lang="en-US" sz="1300" dirty="0"/>
          </a:p>
        </p:txBody>
      </p:sp>
      <p:sp>
        <p:nvSpPr>
          <p:cNvPr id="23" name="Text 21"/>
          <p:cNvSpPr txBox="1"/>
          <p:nvPr/>
        </p:nvSpPr>
        <p:spPr>
          <a:xfrm>
            <a:off x="822960" y="3547872"/>
            <a:ext cx="457200" cy="182880"/>
          </a:xfrm>
          <a:prstGeom prst="rect">
            <a:avLst/>
          </a:prstGeom>
          <a:noFill/>
          <a:ln/>
        </p:spPr>
        <p:txBody>
          <a:bodyPr wrap="square" lIns="0" tIns="0" rIns="0" bIns="0" rtlCol="0" anchor="t"/>
          <a:lstStyle/>
          <a:p>
            <a:pPr marL="0" indent="0">
              <a:buNone/>
            </a:pPr>
            <a:r>
              <a:rPr lang="en-US" sz="1000" dirty="0">
                <a:solidFill>
                  <a:schemeClr val="tx2"/>
                </a:solidFill>
              </a:rPr>
              <a:t>0</a:t>
            </a:r>
            <a:endParaRPr lang="en-US" sz="1000" dirty="0"/>
          </a:p>
        </p:txBody>
      </p:sp>
      <p:sp>
        <p:nvSpPr>
          <p:cNvPr id="24" name="Text 22"/>
          <p:cNvSpPr txBox="1"/>
          <p:nvPr/>
        </p:nvSpPr>
        <p:spPr>
          <a:xfrm>
            <a:off x="2240280" y="3547872"/>
            <a:ext cx="457200" cy="182880"/>
          </a:xfrm>
          <a:prstGeom prst="rect">
            <a:avLst/>
          </a:prstGeom>
          <a:noFill/>
          <a:ln/>
        </p:spPr>
        <p:txBody>
          <a:bodyPr wrap="square" lIns="0" tIns="0" rIns="0" bIns="0" rtlCol="0" anchor="t"/>
          <a:lstStyle/>
          <a:p>
            <a:pPr marL="0" indent="0" algn="ctr">
              <a:buNone/>
            </a:pPr>
            <a:r>
              <a:rPr lang="en-US" sz="1000" dirty="0">
                <a:solidFill>
                  <a:schemeClr val="tx2"/>
                </a:solidFill>
              </a:rPr>
              <a:t>5</a:t>
            </a:r>
            <a:endParaRPr lang="en-US" sz="1000" dirty="0"/>
          </a:p>
        </p:txBody>
      </p:sp>
      <p:sp>
        <p:nvSpPr>
          <p:cNvPr id="25" name="Text 23"/>
          <p:cNvSpPr txBox="1"/>
          <p:nvPr/>
        </p:nvSpPr>
        <p:spPr>
          <a:xfrm>
            <a:off x="3383280" y="3547872"/>
            <a:ext cx="731520" cy="182880"/>
          </a:xfrm>
          <a:prstGeom prst="rect">
            <a:avLst/>
          </a:prstGeom>
          <a:noFill/>
          <a:ln/>
        </p:spPr>
        <p:txBody>
          <a:bodyPr wrap="square" lIns="0" tIns="0" rIns="0" bIns="0" rtlCol="0" anchor="t"/>
          <a:lstStyle/>
          <a:p>
            <a:pPr marL="0" indent="0" algn="r">
              <a:buNone/>
            </a:pPr>
            <a:r>
              <a:rPr lang="en-US" sz="1000" dirty="0">
                <a:solidFill>
                  <a:schemeClr val="tx2"/>
                </a:solidFill>
              </a:rPr>
              <a:t>10 kg</a:t>
            </a:r>
            <a:endParaRPr lang="en-US" sz="1000" dirty="0"/>
          </a:p>
        </p:txBody>
      </p:sp>
      <p:sp>
        <p:nvSpPr>
          <p:cNvPr id="26" name="Text 24"/>
          <p:cNvSpPr txBox="1"/>
          <p:nvPr/>
        </p:nvSpPr>
        <p:spPr>
          <a:xfrm>
            <a:off x="822960" y="3822192"/>
            <a:ext cx="914400" cy="548640"/>
          </a:xfrm>
          <a:prstGeom prst="rect">
            <a:avLst/>
          </a:prstGeom>
          <a:noFill/>
          <a:ln/>
        </p:spPr>
        <p:txBody>
          <a:bodyPr wrap="square" lIns="0" tIns="0" rIns="0" bIns="0" rtlCol="0" anchor="ctr"/>
          <a:lstStyle/>
          <a:p>
            <a:pPr marL="0" indent="0">
              <a:buNone/>
            </a:pPr>
            <a:r>
              <a:rPr lang="en-US" sz="3600" b="1" dirty="0">
                <a:solidFill>
                  <a:schemeClr val="accent1"/>
                </a:solidFill>
                <a:latin typeface="+mj-lt" pitchFamily="34" charset="0"/>
                <a:ea typeface="+mj-lt" pitchFamily="34" charset="-122"/>
                <a:cs typeface="+mj-lt" pitchFamily="34" charset="-120"/>
              </a:rPr>
              <a:t>53</a:t>
            </a:r>
            <a:endParaRPr lang="en-US" sz="3600" dirty="0"/>
          </a:p>
        </p:txBody>
      </p:sp>
      <p:sp>
        <p:nvSpPr>
          <p:cNvPr id="27" name="Text 25"/>
          <p:cNvSpPr txBox="1"/>
          <p:nvPr/>
        </p:nvSpPr>
        <p:spPr>
          <a:xfrm>
            <a:off x="1737360" y="3822192"/>
            <a:ext cx="2377440" cy="548640"/>
          </a:xfrm>
          <a:prstGeom prst="rect">
            <a:avLst/>
          </a:prstGeom>
          <a:noFill/>
          <a:ln/>
        </p:spPr>
        <p:txBody>
          <a:bodyPr wrap="square" lIns="0" tIns="0" rIns="0" bIns="0" rtlCol="0" anchor="ctr"/>
          <a:lstStyle/>
          <a:p>
            <a:pPr marL="0" indent="0">
              <a:buNone/>
            </a:pPr>
            <a:r>
              <a:rPr lang="en-US" sz="1100" dirty="0">
                <a:solidFill>
                  <a:schemeClr val="tx2"/>
                </a:solidFill>
              </a:rPr>
              <a:t>total profit</a:t>
            </a:r>
            <a:endParaRPr lang="en-US" sz="1100" dirty="0"/>
          </a:p>
          <a:p>
            <a:pPr marL="0" indent="0">
              <a:buNone/>
            </a:pPr>
            <a:r>
              <a:rPr lang="en-US" sz="1300" dirty="0">
                <a:solidFill>
                  <a:schemeClr val="tx1"/>
                </a:solidFill>
              </a:rPr>
              <a:t>A + B + 1/6 of C</a:t>
            </a:r>
            <a:endParaRPr lang="en-US" sz="1100" dirty="0"/>
          </a:p>
        </p:txBody>
      </p:sp>
      <p:sp>
        <p:nvSpPr>
          <p:cNvPr id="28" name="Panel 2"/>
          <p:cNvSpPr/>
          <p:nvPr/>
        </p:nvSpPr>
        <p:spPr>
          <a:xfrm>
            <a:off x="4754880" y="1325880"/>
            <a:ext cx="3840480" cy="3154680"/>
          </a:xfrm>
          <a:prstGeom prst="rect">
            <a:avLst/>
          </a:prstGeom>
          <a:solidFill>
            <a:schemeClr val="bg2"/>
          </a:solidFill>
          <a:ln/>
        </p:spPr>
      </p:sp>
      <p:sp>
        <p:nvSpPr>
          <p:cNvPr id="29" name="Text 27"/>
          <p:cNvSpPr txBox="1"/>
          <p:nvPr/>
        </p:nvSpPr>
        <p:spPr>
          <a:xfrm>
            <a:off x="5029200" y="1481328"/>
            <a:ext cx="3291840" cy="347472"/>
          </a:xfrm>
          <a:prstGeom prst="rect">
            <a:avLst/>
          </a:prstGeom>
          <a:noFill/>
          <a:ln/>
        </p:spPr>
        <p:txBody>
          <a:bodyPr wrap="square" lIns="0" tIns="0" rIns="0" bIns="0" rtlCol="0" anchor="ctr"/>
          <a:lstStyle/>
          <a:p>
            <a:pPr marL="0" indent="0">
              <a:buNone/>
            </a:pPr>
            <a:r>
              <a:rPr lang="en-US" sz="2000" b="1" dirty="0">
                <a:solidFill>
                  <a:schemeClr val="tx1"/>
                </a:solidFill>
                <a:latin typeface="+mj-lt" pitchFamily="34" charset="0"/>
                <a:ea typeface="+mj-lt" pitchFamily="34" charset="-122"/>
                <a:cs typeface="+mj-lt" pitchFamily="34" charset="-120"/>
              </a:rPr>
              <a:t>0/1 knapsack</a:t>
            </a:r>
            <a:endParaRPr lang="en-US" sz="2000" dirty="0"/>
          </a:p>
        </p:txBody>
      </p:sp>
      <p:sp>
        <p:nvSpPr>
          <p:cNvPr id="30" name="Text 28"/>
          <p:cNvSpPr txBox="1"/>
          <p:nvPr/>
        </p:nvSpPr>
        <p:spPr>
          <a:xfrm>
            <a:off x="5029200" y="1847088"/>
            <a:ext cx="3291840" cy="228600"/>
          </a:xfrm>
          <a:prstGeom prst="rect">
            <a:avLst/>
          </a:prstGeom>
          <a:noFill/>
          <a:ln/>
        </p:spPr>
        <p:txBody>
          <a:bodyPr wrap="square" lIns="0" tIns="0" rIns="0" bIns="0" rtlCol="0" anchor="ctr"/>
          <a:lstStyle/>
          <a:p>
            <a:pPr marL="0" indent="0">
              <a:buNone/>
            </a:pPr>
            <a:r>
              <a:rPr lang="en-US" sz="1100" b="1" kern="0" spc="300" dirty="0">
                <a:solidFill>
                  <a:schemeClr val="accent1"/>
                </a:solidFill>
              </a:rPr>
              <a:t>TAKEN WHOLE OR NOT AT ALL</a:t>
            </a:r>
            <a:endParaRPr lang="en-US" sz="1100" dirty="0"/>
          </a:p>
        </p:txBody>
      </p:sp>
      <p:sp>
        <p:nvSpPr>
          <p:cNvPr id="31" name="Text 29"/>
          <p:cNvSpPr txBox="1"/>
          <p:nvPr/>
        </p:nvSpPr>
        <p:spPr>
          <a:xfrm>
            <a:off x="5029200" y="2176272"/>
            <a:ext cx="3291840" cy="246888"/>
          </a:xfrm>
          <a:prstGeom prst="rect">
            <a:avLst/>
          </a:prstGeom>
          <a:noFill/>
          <a:ln/>
        </p:spPr>
        <p:txBody>
          <a:bodyPr wrap="square" lIns="0" tIns="0" rIns="0" bIns="0" rtlCol="0" anchor="ctr"/>
          <a:lstStyle/>
          <a:p>
            <a:pPr marL="0" indent="0">
              <a:buNone/>
            </a:pPr>
            <a:r>
              <a:rPr lang="en-US" sz="1400" dirty="0">
                <a:solidFill>
                  <a:schemeClr val="tx1"/>
                </a:solidFill>
                <a:latin typeface="+mj-lt" pitchFamily="34" charset="0"/>
                <a:ea typeface="+mj-lt" pitchFamily="34" charset="-122"/>
                <a:cs typeface="+mj-lt" pitchFamily="34" charset="-120"/>
              </a:rPr>
              <a:t>maximize   Σ p</a:t>
            </a:r>
            <a:r>
              <a:rPr lang="en-US" sz="1400" baseline="-40000" dirty="0">
                <a:solidFill>
                  <a:schemeClr val="tx1"/>
                </a:solidFill>
                <a:latin typeface="+mj-lt" pitchFamily="34" charset="0"/>
                <a:ea typeface="+mj-lt" pitchFamily="34" charset="-122"/>
                <a:cs typeface="+mj-lt" pitchFamily="34" charset="-120"/>
              </a:rPr>
              <a:t>i</a:t>
            </a:r>
            <a:r>
              <a:rPr lang="en-US" sz="1400" dirty="0">
                <a:solidFill>
                  <a:schemeClr val="tx1"/>
                </a:solidFill>
                <a:latin typeface="+mj-lt" pitchFamily="34" charset="0"/>
                <a:ea typeface="+mj-lt" pitchFamily="34" charset="-122"/>
                <a:cs typeface="+mj-lt" pitchFamily="34" charset="-120"/>
              </a:rPr>
              <a:t> x</a:t>
            </a:r>
            <a:r>
              <a:rPr lang="en-US" sz="1400" baseline="-40000" dirty="0">
                <a:solidFill>
                  <a:schemeClr val="tx1"/>
                </a:solidFill>
                <a:latin typeface="+mj-lt" pitchFamily="34" charset="0"/>
                <a:ea typeface="+mj-lt" pitchFamily="34" charset="-122"/>
                <a:cs typeface="+mj-lt" pitchFamily="34" charset="-120"/>
              </a:rPr>
              <a:t>i</a:t>
            </a:r>
            <a:endParaRPr lang="en-US" sz="1400" dirty="0"/>
          </a:p>
        </p:txBody>
      </p:sp>
      <p:sp>
        <p:nvSpPr>
          <p:cNvPr id="32" name="Text 30"/>
          <p:cNvSpPr txBox="1"/>
          <p:nvPr/>
        </p:nvSpPr>
        <p:spPr>
          <a:xfrm>
            <a:off x="5029200" y="2423160"/>
            <a:ext cx="3291840" cy="246888"/>
          </a:xfrm>
          <a:prstGeom prst="rect">
            <a:avLst/>
          </a:prstGeom>
          <a:noFill/>
          <a:ln/>
        </p:spPr>
        <p:txBody>
          <a:bodyPr wrap="square" lIns="0" tIns="0" rIns="0" bIns="0" rtlCol="0" anchor="ctr"/>
          <a:lstStyle/>
          <a:p>
            <a:pPr marL="0" indent="0">
              <a:buNone/>
            </a:pPr>
            <a:r>
              <a:rPr lang="en-US" sz="1400" dirty="0">
                <a:solidFill>
                  <a:schemeClr val="tx1"/>
                </a:solidFill>
                <a:latin typeface="+mj-lt" pitchFamily="34" charset="0"/>
                <a:ea typeface="+mj-lt" pitchFamily="34" charset="-122"/>
                <a:cs typeface="+mj-lt" pitchFamily="34" charset="-120"/>
              </a:rPr>
              <a:t>subject to   Σ w</a:t>
            </a:r>
            <a:r>
              <a:rPr lang="en-US" sz="1400" baseline="-40000" dirty="0">
                <a:solidFill>
                  <a:schemeClr val="tx1"/>
                </a:solidFill>
                <a:latin typeface="+mj-lt" pitchFamily="34" charset="0"/>
                <a:ea typeface="+mj-lt" pitchFamily="34" charset="-122"/>
                <a:cs typeface="+mj-lt" pitchFamily="34" charset="-120"/>
              </a:rPr>
              <a:t>i</a:t>
            </a:r>
            <a:r>
              <a:rPr lang="en-US" sz="1400" dirty="0">
                <a:solidFill>
                  <a:schemeClr val="tx1"/>
                </a:solidFill>
                <a:latin typeface="+mj-lt" pitchFamily="34" charset="0"/>
                <a:ea typeface="+mj-lt" pitchFamily="34" charset="-122"/>
                <a:cs typeface="+mj-lt" pitchFamily="34" charset="-120"/>
              </a:rPr>
              <a:t> x</a:t>
            </a:r>
            <a:r>
              <a:rPr lang="en-US" sz="1400" baseline="-40000" dirty="0">
                <a:solidFill>
                  <a:schemeClr val="tx1"/>
                </a:solidFill>
                <a:latin typeface="+mj-lt" pitchFamily="34" charset="0"/>
                <a:ea typeface="+mj-lt" pitchFamily="34" charset="-122"/>
                <a:cs typeface="+mj-lt" pitchFamily="34" charset="-120"/>
              </a:rPr>
              <a:t>i</a:t>
            </a:r>
            <a:r>
              <a:rPr lang="en-US" sz="1400" dirty="0">
                <a:solidFill>
                  <a:schemeClr val="tx1"/>
                </a:solidFill>
                <a:latin typeface="+mj-lt" pitchFamily="34" charset="0"/>
                <a:ea typeface="+mj-lt" pitchFamily="34" charset="-122"/>
                <a:cs typeface="+mj-lt" pitchFamily="34" charset="-120"/>
              </a:rPr>
              <a:t> ≤ W</a:t>
            </a:r>
            <a:endParaRPr lang="en-US" sz="1400" dirty="0"/>
          </a:p>
        </p:txBody>
      </p:sp>
      <p:sp>
        <p:nvSpPr>
          <p:cNvPr id="33" name="Text 31"/>
          <p:cNvSpPr txBox="1"/>
          <p:nvPr/>
        </p:nvSpPr>
        <p:spPr>
          <a:xfrm>
            <a:off x="5029200" y="2670048"/>
            <a:ext cx="3291840" cy="246888"/>
          </a:xfrm>
          <a:prstGeom prst="rect">
            <a:avLst/>
          </a:prstGeom>
          <a:noFill/>
          <a:ln/>
        </p:spPr>
        <p:txBody>
          <a:bodyPr wrap="square" lIns="0" tIns="0" rIns="0" bIns="0" rtlCol="0" anchor="ctr"/>
          <a:lstStyle/>
          <a:p>
            <a:pPr marL="0" indent="0">
              <a:buNone/>
            </a:pPr>
            <a:r>
              <a:rPr lang="en-US" sz="1400" dirty="0">
                <a:solidFill>
                  <a:schemeClr val="tx1"/>
                </a:solidFill>
                <a:latin typeface="+mj-lt" pitchFamily="34" charset="0"/>
                <a:ea typeface="+mj-lt" pitchFamily="34" charset="-122"/>
                <a:cs typeface="+mj-lt" pitchFamily="34" charset="-120"/>
              </a:rPr>
              <a:t>x</a:t>
            </a:r>
            <a:r>
              <a:rPr lang="en-US" sz="1400" baseline="-40000" dirty="0">
                <a:solidFill>
                  <a:schemeClr val="tx1"/>
                </a:solidFill>
                <a:latin typeface="+mj-lt" pitchFamily="34" charset="0"/>
                <a:ea typeface="+mj-lt" pitchFamily="34" charset="-122"/>
                <a:cs typeface="+mj-lt" pitchFamily="34" charset="-120"/>
              </a:rPr>
              <a:t>i</a:t>
            </a:r>
            <a:r>
              <a:rPr lang="en-US" sz="1400" dirty="0">
                <a:solidFill>
                  <a:schemeClr val="tx1"/>
                </a:solidFill>
                <a:latin typeface="+mj-lt" pitchFamily="34" charset="0"/>
                <a:ea typeface="+mj-lt" pitchFamily="34" charset="-122"/>
                <a:cs typeface="+mj-lt" pitchFamily="34" charset="-120"/>
              </a:rPr>
              <a:t> ∈ {0, 1}</a:t>
            </a:r>
            <a:endParaRPr lang="en-US" sz="1400" dirty="0"/>
          </a:p>
        </p:txBody>
      </p:sp>
      <p:sp>
        <p:nvSpPr>
          <p:cNvPr id="34" name="Capacity outline"/>
          <p:cNvSpPr/>
          <p:nvPr/>
        </p:nvSpPr>
        <p:spPr>
          <a:xfrm>
            <a:off x="5029200" y="3127248"/>
            <a:ext cx="3291840" cy="384048"/>
          </a:xfrm>
          <a:prstGeom prst="rect">
            <a:avLst/>
          </a:prstGeom>
          <a:solidFill>
            <a:schemeClr val="bg1"/>
          </a:solidFill>
          <a:ln w="12700">
            <a:solidFill>
              <a:schemeClr val="accent3"/>
            </a:solidFill>
            <a:prstDash val="solid"/>
          </a:ln>
        </p:spPr>
      </p:sp>
      <p:sp>
        <p:nvSpPr>
          <p:cNvPr id="35" name="Unit divider 1"/>
          <p:cNvSpPr/>
          <p:nvPr/>
        </p:nvSpPr>
        <p:spPr>
          <a:xfrm>
            <a:off x="5358384" y="3127248"/>
            <a:ext cx="0" cy="384048"/>
          </a:xfrm>
          <a:prstGeom prst="line">
            <a:avLst/>
          </a:prstGeom>
          <a:noFill/>
          <a:ln w="9525">
            <a:solidFill>
              <a:schemeClr val="accent4"/>
            </a:solidFill>
            <a:prstDash val="solid"/>
          </a:ln>
        </p:spPr>
      </p:sp>
      <p:sp>
        <p:nvSpPr>
          <p:cNvPr id="36" name="Unit divider 2"/>
          <p:cNvSpPr/>
          <p:nvPr/>
        </p:nvSpPr>
        <p:spPr>
          <a:xfrm>
            <a:off x="5687568" y="3127248"/>
            <a:ext cx="0" cy="384048"/>
          </a:xfrm>
          <a:prstGeom prst="line">
            <a:avLst/>
          </a:prstGeom>
          <a:noFill/>
          <a:ln w="9525">
            <a:solidFill>
              <a:schemeClr val="accent4"/>
            </a:solidFill>
            <a:prstDash val="solid"/>
          </a:ln>
        </p:spPr>
      </p:sp>
      <p:sp>
        <p:nvSpPr>
          <p:cNvPr id="37" name="Unit divider 3"/>
          <p:cNvSpPr/>
          <p:nvPr/>
        </p:nvSpPr>
        <p:spPr>
          <a:xfrm>
            <a:off x="6016752" y="3127248"/>
            <a:ext cx="0" cy="384048"/>
          </a:xfrm>
          <a:prstGeom prst="line">
            <a:avLst/>
          </a:prstGeom>
          <a:noFill/>
          <a:ln w="9525">
            <a:solidFill>
              <a:schemeClr val="accent4"/>
            </a:solidFill>
            <a:prstDash val="solid"/>
          </a:ln>
        </p:spPr>
      </p:sp>
      <p:sp>
        <p:nvSpPr>
          <p:cNvPr id="38" name="Unit divider 4"/>
          <p:cNvSpPr/>
          <p:nvPr/>
        </p:nvSpPr>
        <p:spPr>
          <a:xfrm>
            <a:off x="6345936" y="3127248"/>
            <a:ext cx="0" cy="384048"/>
          </a:xfrm>
          <a:prstGeom prst="line">
            <a:avLst/>
          </a:prstGeom>
          <a:noFill/>
          <a:ln w="9525">
            <a:solidFill>
              <a:schemeClr val="accent4"/>
            </a:solidFill>
            <a:prstDash val="solid"/>
          </a:ln>
        </p:spPr>
      </p:sp>
      <p:sp>
        <p:nvSpPr>
          <p:cNvPr id="39" name="Unit divider 5"/>
          <p:cNvSpPr/>
          <p:nvPr/>
        </p:nvSpPr>
        <p:spPr>
          <a:xfrm>
            <a:off x="6675120" y="3127248"/>
            <a:ext cx="0" cy="384048"/>
          </a:xfrm>
          <a:prstGeom prst="line">
            <a:avLst/>
          </a:prstGeom>
          <a:noFill/>
          <a:ln w="9525">
            <a:solidFill>
              <a:schemeClr val="accent4"/>
            </a:solidFill>
            <a:prstDash val="solid"/>
          </a:ln>
        </p:spPr>
      </p:sp>
      <p:sp>
        <p:nvSpPr>
          <p:cNvPr id="40" name="Unit divider 6"/>
          <p:cNvSpPr/>
          <p:nvPr/>
        </p:nvSpPr>
        <p:spPr>
          <a:xfrm>
            <a:off x="7004304" y="3127248"/>
            <a:ext cx="0" cy="384048"/>
          </a:xfrm>
          <a:prstGeom prst="line">
            <a:avLst/>
          </a:prstGeom>
          <a:noFill/>
          <a:ln w="9525">
            <a:solidFill>
              <a:schemeClr val="accent4"/>
            </a:solidFill>
            <a:prstDash val="solid"/>
          </a:ln>
        </p:spPr>
      </p:sp>
      <p:sp>
        <p:nvSpPr>
          <p:cNvPr id="41" name="Unit divider 7"/>
          <p:cNvSpPr/>
          <p:nvPr/>
        </p:nvSpPr>
        <p:spPr>
          <a:xfrm>
            <a:off x="7333488" y="3127248"/>
            <a:ext cx="0" cy="384048"/>
          </a:xfrm>
          <a:prstGeom prst="line">
            <a:avLst/>
          </a:prstGeom>
          <a:noFill/>
          <a:ln w="9525">
            <a:solidFill>
              <a:schemeClr val="accent4"/>
            </a:solidFill>
            <a:prstDash val="solid"/>
          </a:ln>
        </p:spPr>
      </p:sp>
      <p:sp>
        <p:nvSpPr>
          <p:cNvPr id="42" name="Unit divider 8"/>
          <p:cNvSpPr/>
          <p:nvPr/>
        </p:nvSpPr>
        <p:spPr>
          <a:xfrm>
            <a:off x="7662672" y="3127248"/>
            <a:ext cx="0" cy="384048"/>
          </a:xfrm>
          <a:prstGeom prst="line">
            <a:avLst/>
          </a:prstGeom>
          <a:noFill/>
          <a:ln w="9525">
            <a:solidFill>
              <a:schemeClr val="accent4"/>
            </a:solidFill>
            <a:prstDash val="solid"/>
          </a:ln>
        </p:spPr>
      </p:sp>
      <p:sp>
        <p:nvSpPr>
          <p:cNvPr id="43" name="Unit divider 9"/>
          <p:cNvSpPr/>
          <p:nvPr/>
        </p:nvSpPr>
        <p:spPr>
          <a:xfrm>
            <a:off x="7991856" y="3127248"/>
            <a:ext cx="0" cy="384048"/>
          </a:xfrm>
          <a:prstGeom prst="line">
            <a:avLst/>
          </a:prstGeom>
          <a:noFill/>
          <a:ln w="9525">
            <a:solidFill>
              <a:schemeClr val="accent4"/>
            </a:solidFill>
            <a:prstDash val="solid"/>
          </a:ln>
        </p:spPr>
      </p:sp>
      <p:sp>
        <p:nvSpPr>
          <p:cNvPr id="44" name="Segment 0"/>
          <p:cNvSpPr txBox="1"/>
          <p:nvPr/>
        </p:nvSpPr>
        <p:spPr>
          <a:xfrm>
            <a:off x="5029200" y="3127248"/>
            <a:ext cx="1645920" cy="384048"/>
          </a:xfrm>
          <a:prstGeom prst="rect">
            <a:avLst/>
          </a:prstGeom>
          <a:solidFill>
            <a:schemeClr val="accent2"/>
          </a:solidFill>
          <a:ln w="19050">
            <a:solidFill>
              <a:schemeClr val="bg1"/>
            </a:solidFill>
          </a:ln>
        </p:spPr>
        <p:txBody>
          <a:bodyPr wrap="square" lIns="0" tIns="0" rIns="0" bIns="0" rtlCol="0" anchor="ctr"/>
          <a:lstStyle/>
          <a:p>
            <a:pPr marL="0" indent="0" algn="ctr">
              <a:buNone/>
            </a:pPr>
            <a:r>
              <a:rPr lang="en-US" sz="1300" b="1" dirty="0">
                <a:solidFill>
                  <a:schemeClr val="bg1"/>
                </a:solidFill>
              </a:rPr>
              <a:t>A · 5</a:t>
            </a:r>
            <a:endParaRPr lang="en-US" sz="1300" dirty="0"/>
          </a:p>
        </p:txBody>
      </p:sp>
      <p:sp>
        <p:nvSpPr>
          <p:cNvPr id="45" name="Segment 1"/>
          <p:cNvSpPr txBox="1"/>
          <p:nvPr/>
        </p:nvSpPr>
        <p:spPr>
          <a:xfrm>
            <a:off x="6675120" y="3127248"/>
            <a:ext cx="1316736" cy="384048"/>
          </a:xfrm>
          <a:prstGeom prst="rect">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bg1"/>
                </a:solidFill>
              </a:rPr>
              <a:t>B · 4</a:t>
            </a:r>
            <a:endParaRPr lang="en-US" sz="1300" dirty="0"/>
          </a:p>
        </p:txBody>
      </p:sp>
      <p:sp>
        <p:nvSpPr>
          <p:cNvPr id="46" name="Unused capacity"/>
          <p:cNvSpPr txBox="1"/>
          <p:nvPr/>
        </p:nvSpPr>
        <p:spPr>
          <a:xfrm>
            <a:off x="7991856" y="3127248"/>
            <a:ext cx="329184" cy="384048"/>
          </a:xfrm>
          <a:prstGeom prst="rect">
            <a:avLst/>
          </a:prstGeom>
          <a:solidFill>
            <a:schemeClr val="bg1"/>
          </a:solidFill>
          <a:ln w="15875">
            <a:solidFill>
              <a:schemeClr val="accent1"/>
            </a:solidFill>
            <a:prstDash val="dash"/>
          </a:ln>
        </p:spPr>
        <p:txBody>
          <a:bodyPr wrap="square" lIns="0" tIns="0" rIns="0" bIns="0" rtlCol="0" anchor="ctr"/>
          <a:lstStyle/>
          <a:p>
            <a:pPr marL="0" indent="0" algn="ctr">
              <a:buNone/>
            </a:pPr>
            <a:endParaRPr lang="en-US" sz="1100" dirty="0"/>
          </a:p>
        </p:txBody>
      </p:sp>
      <p:sp>
        <p:nvSpPr>
          <p:cNvPr id="47" name="Text 45"/>
          <p:cNvSpPr txBox="1"/>
          <p:nvPr/>
        </p:nvSpPr>
        <p:spPr>
          <a:xfrm>
            <a:off x="5029200" y="3547872"/>
            <a:ext cx="457200" cy="182880"/>
          </a:xfrm>
          <a:prstGeom prst="rect">
            <a:avLst/>
          </a:prstGeom>
          <a:noFill/>
          <a:ln/>
        </p:spPr>
        <p:txBody>
          <a:bodyPr wrap="square" lIns="0" tIns="0" rIns="0" bIns="0" rtlCol="0" anchor="t"/>
          <a:lstStyle/>
          <a:p>
            <a:pPr marL="0" indent="0">
              <a:buNone/>
            </a:pPr>
            <a:r>
              <a:rPr lang="en-US" sz="1000" dirty="0">
                <a:solidFill>
                  <a:schemeClr val="tx2"/>
                </a:solidFill>
              </a:rPr>
              <a:t>0</a:t>
            </a:r>
            <a:endParaRPr lang="en-US" sz="1000" dirty="0"/>
          </a:p>
        </p:txBody>
      </p:sp>
      <p:sp>
        <p:nvSpPr>
          <p:cNvPr id="48" name="Text 46"/>
          <p:cNvSpPr txBox="1"/>
          <p:nvPr/>
        </p:nvSpPr>
        <p:spPr>
          <a:xfrm>
            <a:off x="6446520" y="3547872"/>
            <a:ext cx="457200" cy="182880"/>
          </a:xfrm>
          <a:prstGeom prst="rect">
            <a:avLst/>
          </a:prstGeom>
          <a:noFill/>
          <a:ln/>
        </p:spPr>
        <p:txBody>
          <a:bodyPr wrap="square" lIns="0" tIns="0" rIns="0" bIns="0" rtlCol="0" anchor="t"/>
          <a:lstStyle/>
          <a:p>
            <a:pPr marL="0" indent="0" algn="ctr">
              <a:buNone/>
            </a:pPr>
            <a:r>
              <a:rPr lang="en-US" sz="1000" dirty="0">
                <a:solidFill>
                  <a:schemeClr val="tx2"/>
                </a:solidFill>
              </a:rPr>
              <a:t>5</a:t>
            </a:r>
            <a:endParaRPr lang="en-US" sz="1000" dirty="0"/>
          </a:p>
        </p:txBody>
      </p:sp>
      <p:sp>
        <p:nvSpPr>
          <p:cNvPr id="49" name="Text 47"/>
          <p:cNvSpPr txBox="1"/>
          <p:nvPr/>
        </p:nvSpPr>
        <p:spPr>
          <a:xfrm>
            <a:off x="7589520" y="3547872"/>
            <a:ext cx="731520" cy="182880"/>
          </a:xfrm>
          <a:prstGeom prst="rect">
            <a:avLst/>
          </a:prstGeom>
          <a:noFill/>
          <a:ln/>
        </p:spPr>
        <p:txBody>
          <a:bodyPr wrap="square" lIns="0" tIns="0" rIns="0" bIns="0" rtlCol="0" anchor="t"/>
          <a:lstStyle/>
          <a:p>
            <a:pPr marL="0" indent="0" algn="r">
              <a:buNone/>
            </a:pPr>
            <a:r>
              <a:rPr lang="en-US" sz="1000" dirty="0">
                <a:solidFill>
                  <a:schemeClr val="tx2"/>
                </a:solidFill>
              </a:rPr>
              <a:t>10 kg</a:t>
            </a:r>
            <a:endParaRPr lang="en-US" sz="1000" dirty="0"/>
          </a:p>
        </p:txBody>
      </p:sp>
      <p:sp>
        <p:nvSpPr>
          <p:cNvPr id="50" name="Text 48"/>
          <p:cNvSpPr txBox="1"/>
          <p:nvPr/>
        </p:nvSpPr>
        <p:spPr>
          <a:xfrm>
            <a:off x="5029200" y="3822192"/>
            <a:ext cx="914400" cy="548640"/>
          </a:xfrm>
          <a:prstGeom prst="rect">
            <a:avLst/>
          </a:prstGeom>
          <a:noFill/>
          <a:ln/>
        </p:spPr>
        <p:txBody>
          <a:bodyPr wrap="square" lIns="0" tIns="0" rIns="0" bIns="0" rtlCol="0" anchor="ctr"/>
          <a:lstStyle/>
          <a:p>
            <a:pPr marL="0" indent="0">
              <a:buNone/>
            </a:pPr>
            <a:r>
              <a:rPr lang="en-US" sz="3600" b="1" dirty="0">
                <a:solidFill>
                  <a:schemeClr val="accent1"/>
                </a:solidFill>
                <a:latin typeface="+mj-lt" pitchFamily="34" charset="0"/>
                <a:ea typeface="+mj-lt" pitchFamily="34" charset="-122"/>
                <a:cs typeface="+mj-lt" pitchFamily="34" charset="-120"/>
              </a:rPr>
              <a:t>50</a:t>
            </a:r>
            <a:endParaRPr lang="en-US" sz="3600" dirty="0"/>
          </a:p>
        </p:txBody>
      </p:sp>
      <p:sp>
        <p:nvSpPr>
          <p:cNvPr id="51" name="Text 49"/>
          <p:cNvSpPr txBox="1"/>
          <p:nvPr/>
        </p:nvSpPr>
        <p:spPr>
          <a:xfrm>
            <a:off x="5943600" y="3822192"/>
            <a:ext cx="2377440" cy="548640"/>
          </a:xfrm>
          <a:prstGeom prst="rect">
            <a:avLst/>
          </a:prstGeom>
          <a:noFill/>
          <a:ln/>
        </p:spPr>
        <p:txBody>
          <a:bodyPr wrap="square" lIns="0" tIns="0" rIns="0" bIns="0" rtlCol="0" anchor="ctr"/>
          <a:lstStyle/>
          <a:p>
            <a:pPr marL="0" indent="0">
              <a:buNone/>
            </a:pPr>
            <a:r>
              <a:rPr lang="en-US" sz="1100" dirty="0">
                <a:solidFill>
                  <a:schemeClr val="tx2"/>
                </a:solidFill>
              </a:rPr>
              <a:t>total profit</a:t>
            </a:r>
            <a:endParaRPr lang="en-US" sz="1100" dirty="0"/>
          </a:p>
          <a:p>
            <a:pPr marL="0" indent="0">
              <a:buNone/>
            </a:pPr>
            <a:r>
              <a:rPr lang="en-US" sz="1300" dirty="0">
                <a:solidFill>
                  <a:schemeClr val="tx1"/>
                </a:solidFill>
              </a:rPr>
              <a:t>A + B, 1 kg unused</a:t>
            </a:r>
            <a:endParaRPr lang="en-US" sz="1100" dirty="0"/>
          </a:p>
        </p:txBody>
      </p:sp>
      <p:sp>
        <p:nvSpPr>
          <p:cNvPr id="52"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046720" cy="237744"/>
          </a:xfrm>
          <a:prstGeom prst="rect">
            <a:avLst/>
          </a:prstGeom>
          <a:noFill/>
          <a:ln/>
        </p:spPr>
        <p:txBody>
          <a:bodyPr wrap="square" lIns="0" tIns="0" rIns="0" bIns="0" rtlCol="0" anchor="ctr"/>
          <a:lstStyle/>
          <a:p>
            <a:pPr marL="0" indent="0" algn="l">
              <a:buNone/>
            </a:pPr>
            <a:r>
              <a:rPr lang="en-US" sz="1100" b="1" kern="0" spc="300" dirty="0">
                <a:solidFill>
                  <a:schemeClr val="accent1"/>
                </a:solidFill>
              </a:rPr>
              <a:t>04  ·  THE GREEDY METHOD</a:t>
            </a:r>
            <a:endParaRPr lang="en-US" sz="1100" dirty="0"/>
          </a:p>
        </p:txBody>
      </p:sp>
      <p:sp>
        <p:nvSpPr>
          <p:cNvPr id="3" name="Text 0"/>
          <p:cNvSpPr>
            <a:spLocks noGrp="1"/>
          </p:cNvSpPr>
          <p:nvPr>
            <p:ph type="title" idx="101" hasCustomPrompt="1"/>
          </p:nvPr>
        </p:nvSpPr>
        <p:spPr>
          <a:xfrm>
            <a:off x="548640" y="603504"/>
            <a:ext cx="8046720" cy="566928"/>
          </a:xfrm>
          <a:prstGeom prst="rect">
            <a:avLst/>
          </a:prstGeom>
          <a:noFill/>
          <a:ln/>
        </p:spPr>
        <p:txBody>
          <a:bodyPr wrap="square" lIns="0" tIns="0" rIns="0" bIns="0" rtlCol="0" anchor="ctr"/>
          <a:lstStyle/>
          <a:p>
            <a:pPr marL="0" indent="0" algn="l">
              <a:buNone/>
            </a:pPr>
            <a:r>
              <a:rPr lang="en-US" sz="3200" b="1" dirty="0">
                <a:solidFill>
                  <a:schemeClr val="tx1"/>
                </a:solidFill>
              </a:rPr>
              <a:t>Greedy: rank by profit per kg</a:t>
            </a:r>
            <a:endParaRPr lang="en-US" sz="3200" dirty="0"/>
          </a:p>
        </p:txBody>
      </p:sp>
      <p:sp>
        <p:nvSpPr>
          <p:cNvPr id="4" name="Text 2"/>
          <p:cNvSpPr txBox="1"/>
          <p:nvPr/>
        </p:nvSpPr>
        <p:spPr>
          <a:xfrm>
            <a:off x="548640" y="1371600"/>
            <a:ext cx="3840480" cy="228600"/>
          </a:xfrm>
          <a:prstGeom prst="rect">
            <a:avLst/>
          </a:prstGeom>
          <a:noFill/>
          <a:ln/>
        </p:spPr>
        <p:txBody>
          <a:bodyPr wrap="square" lIns="0" tIns="0" rIns="0" bIns="0" rtlCol="0" anchor="ctr"/>
          <a:lstStyle/>
          <a:p>
            <a:pPr marL="0" indent="0">
              <a:buNone/>
            </a:pPr>
            <a:r>
              <a:rPr lang="en-US" sz="1100" b="1" kern="0" spc="300" dirty="0">
                <a:solidFill>
                  <a:schemeClr val="accent1"/>
                </a:solidFill>
              </a:rPr>
              <a:t>1  COMPUTE p/w AND SORT</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64208"/>
          <a:ext cx="3840480" cy="1463040"/>
        </p:xfrm>
        <a:graphic>
          <a:graphicData uri="http://schemas.openxmlformats.org/drawingml/2006/table">
            <a:tbl>
              <a:tblPr/>
              <a:tblGrid>
                <a:gridCol w="73152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365760">
                <a:tc>
                  <a:txBody>
                    <a:bodyPr/>
                    <a:lstStyle/>
                    <a:p>
                      <a:pPr marL="0" indent="0" algn="ctr">
                        <a:buNone/>
                      </a:pPr>
                      <a:r>
                        <a:rPr lang="en-US" sz="1100" b="1" dirty="0">
                          <a:solidFill>
                            <a:schemeClr val="tx2"/>
                          </a:solidFill>
                        </a:rPr>
                        <a:t>ITEM</a:t>
                      </a:r>
                      <a:endParaRPr lang="en-US" sz="11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b="1" dirty="0">
                          <a:solidFill>
                            <a:schemeClr val="tx2"/>
                          </a:solidFill>
                        </a:rPr>
                        <a:t>w</a:t>
                      </a:r>
                      <a:endParaRPr lang="en-US" sz="11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b="1" dirty="0">
                          <a:solidFill>
                            <a:schemeClr val="tx2"/>
                          </a:solidFill>
                        </a:rPr>
                        <a:t>p</a:t>
                      </a:r>
                      <a:endParaRPr lang="en-US" sz="11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b="1" dirty="0">
                          <a:solidFill>
                            <a:schemeClr val="tx2"/>
                          </a:solidFill>
                        </a:rPr>
                        <a:t>p / w</a:t>
                      </a:r>
                      <a:endParaRPr lang="en-US" sz="11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b="1" dirty="0">
                          <a:solidFill>
                            <a:schemeClr val="tx2"/>
                          </a:solidFill>
                        </a:rPr>
                        <a:t>RANK</a:t>
                      </a:r>
                      <a:endParaRPr lang="en-US" sz="11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marL="0" indent="0" algn="ctr">
                        <a:buNone/>
                      </a:pPr>
                      <a:r>
                        <a:rPr lang="en-US" sz="1500" b="1" dirty="0">
                          <a:solidFill>
                            <a:schemeClr val="bg1"/>
                          </a:solidFill>
                          <a:latin typeface="+mj-lt" pitchFamily="34" charset="0"/>
                          <a:ea typeface="+mj-lt" pitchFamily="34" charset="-122"/>
                          <a:cs typeface="+mj-lt" pitchFamily="34" charset="-120"/>
                        </a:rPr>
                        <a:t>A</a:t>
                      </a:r>
                      <a:endParaRPr lang="en-US" sz="1500" dirty="0">
                        <a:latin typeface="+mj-lt" charset="0"/>
                        <a:ea typeface="+mj-lt" charset="0"/>
                        <a:cs typeface="+mj-lt" charset="0"/>
                      </a:endParaRPr>
                    </a:p>
                  </a:txBody>
                  <a:tcPr anchor="ctr">
                    <a:lnL w="0" cap="flat" cmpd="sng" algn="ctr">
                      <a:noFill/>
                    </a:lnL>
                    <a:lnR w="0" cap="flat" cmpd="sng" algn="ctr">
                      <a:noFill/>
                    </a:lnR>
                    <a:lnT w="12700" cap="flat" cmpd="sng" algn="ctr">
                      <a:solidFill>
                        <a:schemeClr val="tx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2"/>
                    </a:solidFill>
                  </a:tcPr>
                </a:tc>
                <a:tc>
                  <a:txBody>
                    <a:bodyPr/>
                    <a:lstStyle/>
                    <a:p>
                      <a:pPr marL="0" indent="0" algn="ctr">
                        <a:buNone/>
                      </a:pPr>
                      <a:r>
                        <a:rPr lang="en-US" sz="1500" dirty="0">
                          <a:solidFill>
                            <a:schemeClr val="tx1"/>
                          </a:solidFill>
                        </a:rPr>
                        <a:t>5</a:t>
                      </a:r>
                      <a:endParaRPr lang="en-US" sz="1500" dirty="0"/>
                    </a:p>
                  </a:txBody>
                  <a:tcPr anchor="ctr">
                    <a:lnL w="0" cap="flat" cmpd="sng" algn="ctr">
                      <a:noFill/>
                    </a:lnL>
                    <a:lnR w="0" cap="flat" cmpd="sng" algn="ctr">
                      <a:noFill/>
                    </a:lnR>
                    <a:lnT w="12700" cap="flat" cmpd="sng" algn="ctr">
                      <a:solidFill>
                        <a:schemeClr val="tx1"/>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ctr">
                        <a:buNone/>
                      </a:pPr>
                      <a:r>
                        <a:rPr lang="en-US" sz="1500" dirty="0">
                          <a:solidFill>
                            <a:schemeClr val="tx1"/>
                          </a:solidFill>
                        </a:rPr>
                        <a:t>30</a:t>
                      </a:r>
                      <a:endParaRPr lang="en-US" sz="1500" dirty="0"/>
                    </a:p>
                  </a:txBody>
                  <a:tcPr anchor="ctr">
                    <a:lnL w="0" cap="flat" cmpd="sng" algn="ctr">
                      <a:noFill/>
                    </a:lnL>
                    <a:lnR w="0" cap="flat" cmpd="sng" algn="ctr">
                      <a:noFill/>
                    </a:lnR>
                    <a:lnT w="12700" cap="flat" cmpd="sng" algn="ctr">
                      <a:solidFill>
                        <a:schemeClr val="tx1"/>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ctr">
                        <a:buNone/>
                      </a:pPr>
                      <a:r>
                        <a:rPr lang="en-US" sz="1500" b="1" dirty="0">
                          <a:solidFill>
                            <a:schemeClr val="tx1"/>
                          </a:solidFill>
                        </a:rPr>
                        <a:t>6.0</a:t>
                      </a:r>
                      <a:endParaRPr lang="en-US" sz="1500" dirty="0"/>
                    </a:p>
                  </a:txBody>
                  <a:tcPr anchor="ctr">
                    <a:lnL w="0" cap="flat" cmpd="sng" algn="ctr">
                      <a:noFill/>
                    </a:lnL>
                    <a:lnR w="0" cap="flat" cmpd="sng" algn="ctr">
                      <a:noFill/>
                    </a:lnR>
                    <a:lnT w="12700" cap="flat" cmpd="sng" algn="ctr">
                      <a:solidFill>
                        <a:schemeClr val="tx1"/>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ctr">
                        <a:buNone/>
                      </a:pPr>
                      <a:r>
                        <a:rPr lang="en-US" sz="1500" dirty="0">
                          <a:solidFill>
                            <a:schemeClr val="tx1"/>
                          </a:solidFill>
                        </a:rPr>
                        <a:t>1</a:t>
                      </a:r>
                      <a:endParaRPr lang="en-US" sz="1500" dirty="0"/>
                    </a:p>
                  </a:txBody>
                  <a:tcPr anchor="ctr">
                    <a:lnL w="0" cap="flat" cmpd="sng" algn="ctr">
                      <a:noFill/>
                    </a:lnL>
                    <a:lnR w="0" cap="flat" cmpd="sng" algn="ctr">
                      <a:noFill/>
                    </a:lnR>
                    <a:lnT w="12700" cap="flat" cmpd="sng" algn="ctr">
                      <a:solidFill>
                        <a:schemeClr val="tx1"/>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500" b="1" dirty="0">
                          <a:solidFill>
                            <a:schemeClr val="bg1"/>
                          </a:solidFill>
                          <a:latin typeface="+mj-lt" pitchFamily="34" charset="0"/>
                          <a:ea typeface="+mj-lt" pitchFamily="34" charset="-122"/>
                          <a:cs typeface="+mj-lt" pitchFamily="34" charset="-120"/>
                        </a:rPr>
                        <a:t>B</a:t>
                      </a:r>
                      <a:endParaRPr lang="en-US" sz="1500" dirty="0">
                        <a:latin typeface="+mj-lt" charset="0"/>
                        <a:ea typeface="+mj-lt" charset="0"/>
                        <a:cs typeface="+mj-lt" charset="0"/>
                      </a:endParaRPr>
                    </a:p>
                  </a:txBody>
                  <a:tcPr anchor="ctr">
                    <a:lnL w="0" cap="flat" cmpd="sng" algn="ctr">
                      <a:noFill/>
                    </a:lnL>
                    <a:lnR w="0" cap="flat" cmpd="sng" algn="ctr">
                      <a:noFill/>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solidFill>
                  </a:tcPr>
                </a:tc>
                <a:tc>
                  <a:txBody>
                    <a:bodyPr/>
                    <a:lstStyle/>
                    <a:p>
                      <a:pPr marL="0" indent="0" algn="ctr">
                        <a:buNone/>
                      </a:pPr>
                      <a:r>
                        <a:rPr lang="en-US" sz="1500" dirty="0">
                          <a:solidFill>
                            <a:schemeClr val="tx1"/>
                          </a:solidFill>
                        </a:rPr>
                        <a:t>4</a:t>
                      </a:r>
                      <a:endParaRPr lang="en-US" sz="1500" dirty="0"/>
                    </a:p>
                  </a:txBody>
                  <a:tcPr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ctr">
                        <a:buNone/>
                      </a:pPr>
                      <a:r>
                        <a:rPr lang="en-US" sz="1500" dirty="0">
                          <a:solidFill>
                            <a:schemeClr val="tx1"/>
                          </a:solidFill>
                        </a:rPr>
                        <a:t>20</a:t>
                      </a:r>
                      <a:endParaRPr lang="en-US" sz="1500" dirty="0"/>
                    </a:p>
                  </a:txBody>
                  <a:tcPr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ctr">
                        <a:buNone/>
                      </a:pPr>
                      <a:r>
                        <a:rPr lang="en-US" sz="1500" b="1" dirty="0">
                          <a:solidFill>
                            <a:schemeClr val="tx1"/>
                          </a:solidFill>
                        </a:rPr>
                        <a:t>5.0</a:t>
                      </a:r>
                      <a:endParaRPr lang="en-US" sz="1500" dirty="0"/>
                    </a:p>
                  </a:txBody>
                  <a:tcPr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ctr">
                        <a:buNone/>
                      </a:pPr>
                      <a:r>
                        <a:rPr lang="en-US" sz="1500" dirty="0">
                          <a:solidFill>
                            <a:schemeClr val="tx1"/>
                          </a:solidFill>
                        </a:rPr>
                        <a:t>2</a:t>
                      </a:r>
                      <a:endParaRPr lang="en-US" sz="1500" dirty="0"/>
                    </a:p>
                  </a:txBody>
                  <a:tcPr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500" b="1" dirty="0">
                          <a:solidFill>
                            <a:schemeClr val="tx1"/>
                          </a:solidFill>
                          <a:latin typeface="+mj-lt" pitchFamily="34" charset="0"/>
                          <a:ea typeface="+mj-lt" pitchFamily="34" charset="-122"/>
                          <a:cs typeface="+mj-lt" pitchFamily="34" charset="-120"/>
                        </a:rPr>
                        <a:t>C</a:t>
                      </a:r>
                      <a:endParaRPr lang="en-US" sz="1500" dirty="0">
                        <a:latin typeface="+mj-lt" charset="0"/>
                        <a:ea typeface="+mj-lt" charset="0"/>
                        <a:cs typeface="+mj-lt" charset="0"/>
                      </a:endParaRPr>
                    </a:p>
                  </a:txBody>
                  <a:tcPr anchor="ctr">
                    <a:lnL w="0" cap="flat" cmpd="sng" algn="ctr">
                      <a:noFill/>
                    </a:lnL>
                    <a:lnR w="0" cap="flat" cmpd="sng" algn="ctr">
                      <a:noFill/>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4"/>
                    </a:solidFill>
                  </a:tcPr>
                </a:tc>
                <a:tc>
                  <a:txBody>
                    <a:bodyPr/>
                    <a:lstStyle/>
                    <a:p>
                      <a:pPr marL="0" indent="0" algn="ctr">
                        <a:buNone/>
                      </a:pPr>
                      <a:r>
                        <a:rPr lang="en-US" sz="1500" dirty="0">
                          <a:solidFill>
                            <a:schemeClr val="tx1"/>
                          </a:solidFill>
                        </a:rPr>
                        <a:t>6</a:t>
                      </a:r>
                      <a:endParaRPr lang="en-US" sz="1500" dirty="0"/>
                    </a:p>
                  </a:txBody>
                  <a:tcPr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ctr">
                        <a:buNone/>
                      </a:pPr>
                      <a:r>
                        <a:rPr lang="en-US" sz="1500" dirty="0">
                          <a:solidFill>
                            <a:schemeClr val="tx1"/>
                          </a:solidFill>
                        </a:rPr>
                        <a:t>18</a:t>
                      </a:r>
                      <a:endParaRPr lang="en-US" sz="1500" dirty="0"/>
                    </a:p>
                  </a:txBody>
                  <a:tcPr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ctr">
                        <a:buNone/>
                      </a:pPr>
                      <a:r>
                        <a:rPr lang="en-US" sz="1500" b="1" dirty="0">
                          <a:solidFill>
                            <a:schemeClr val="tx1"/>
                          </a:solidFill>
                        </a:rPr>
                        <a:t>3.0</a:t>
                      </a:r>
                      <a:endParaRPr lang="en-US" sz="1500" dirty="0"/>
                    </a:p>
                  </a:txBody>
                  <a:tcPr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ctr">
                        <a:buNone/>
                      </a:pPr>
                      <a:r>
                        <a:rPr lang="en-US" sz="1500" dirty="0">
                          <a:solidFill>
                            <a:schemeClr val="tx1"/>
                          </a:solidFill>
                        </a:rPr>
                        <a:t>3</a:t>
                      </a:r>
                      <a:endParaRPr lang="en-US" sz="1500" dirty="0"/>
                    </a:p>
                  </a:txBody>
                  <a:tcPr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txBox="1"/>
          <p:nvPr/>
        </p:nvSpPr>
        <p:spPr>
          <a:xfrm>
            <a:off x="548640" y="3246120"/>
            <a:ext cx="3840480" cy="274320"/>
          </a:xfrm>
          <a:prstGeom prst="rect">
            <a:avLst/>
          </a:prstGeom>
          <a:noFill/>
          <a:ln/>
        </p:spPr>
        <p:txBody>
          <a:bodyPr wrap="square" lIns="0" tIns="0" rIns="0" bIns="0" rtlCol="0" anchor="t"/>
          <a:lstStyle/>
          <a:p>
            <a:pPr marL="0" indent="0">
              <a:buNone/>
            </a:pPr>
            <a:r>
              <a:rPr lang="en-US" sz="1200" i="1" dirty="0">
                <a:solidFill>
                  <a:schemeClr val="tx2"/>
                </a:solidFill>
              </a:rPr>
              <a:t>Highest ratio first: the best value for every kilogram of space.</a:t>
            </a:r>
            <a:endParaRPr lang="en-US" sz="1200" dirty="0"/>
          </a:p>
        </p:txBody>
      </p:sp>
      <p:sp>
        <p:nvSpPr>
          <p:cNvPr id="7" name="Text 4"/>
          <p:cNvSpPr txBox="1"/>
          <p:nvPr/>
        </p:nvSpPr>
        <p:spPr>
          <a:xfrm>
            <a:off x="4754880" y="1371600"/>
            <a:ext cx="3840480" cy="228600"/>
          </a:xfrm>
          <a:prstGeom prst="rect">
            <a:avLst/>
          </a:prstGeom>
          <a:noFill/>
          <a:ln/>
        </p:spPr>
        <p:txBody>
          <a:bodyPr wrap="square" lIns="0" tIns="0" rIns="0" bIns="0" rtlCol="0" anchor="ctr"/>
          <a:lstStyle/>
          <a:p>
            <a:pPr marL="0" indent="0">
              <a:buNone/>
            </a:pPr>
            <a:r>
              <a:rPr lang="en-US" sz="1100" b="1" kern="0" spc="300" dirty="0">
                <a:solidFill>
                  <a:schemeClr val="accent1"/>
                </a:solidFill>
              </a:rPr>
              <a:t>2  FILL THE KNAPSACK, W = 10</a:t>
            </a:r>
            <a:endParaRPr lang="en-US" sz="1100" dirty="0"/>
          </a:p>
        </p:txBody>
      </p:sp>
      <p:sp>
        <p:nvSpPr>
          <p:cNvPr id="8" name="Step marker 1"/>
          <p:cNvSpPr txBox="1"/>
          <p:nvPr/>
        </p:nvSpPr>
        <p:spPr>
          <a:xfrm>
            <a:off x="4754880" y="1764792"/>
            <a:ext cx="347472" cy="347472"/>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5257800" y="1691640"/>
            <a:ext cx="3337560" cy="493776"/>
          </a:xfrm>
          <a:prstGeom prst="rect">
            <a:avLst/>
          </a:prstGeom>
          <a:noFill/>
          <a:ln/>
        </p:spPr>
        <p:txBody>
          <a:bodyPr wrap="square" lIns="0" tIns="0" rIns="0" bIns="0" rtlCol="0" anchor="ctr"/>
          <a:lstStyle/>
          <a:p>
            <a:pPr marL="0" indent="0">
              <a:buNone/>
            </a:pPr>
            <a:r>
              <a:rPr lang="en-US" sz="1400" b="1" dirty="0">
                <a:solidFill>
                  <a:schemeClr val="tx1"/>
                </a:solidFill>
              </a:rPr>
              <a:t>Take all of A  ·  5 kg</a:t>
            </a:r>
            <a:endParaRPr lang="en-US" sz="1400" dirty="0"/>
          </a:p>
          <a:p>
            <a:pPr marL="0" indent="0">
              <a:buNone/>
            </a:pPr>
            <a:r>
              <a:rPr lang="en-US" sz="1200" dirty="0">
                <a:solidFill>
                  <a:schemeClr val="tx2"/>
                </a:solidFill>
              </a:rPr>
              <a:t>capacity left 5 kg  ·  profit 30</a:t>
            </a:r>
            <a:endParaRPr lang="en-US" sz="1400" dirty="0"/>
          </a:p>
        </p:txBody>
      </p:sp>
      <p:sp>
        <p:nvSpPr>
          <p:cNvPr id="10" name="Step marker 2"/>
          <p:cNvSpPr txBox="1"/>
          <p:nvPr/>
        </p:nvSpPr>
        <p:spPr>
          <a:xfrm>
            <a:off x="4754880" y="2331720"/>
            <a:ext cx="347472" cy="347472"/>
          </a:xfrm>
          <a:prstGeom prst="ellipse">
            <a:avLst/>
          </a:prstGeom>
          <a:solidFill>
            <a:schemeClr val="accent2"/>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1" name="Text 8"/>
          <p:cNvSpPr txBox="1"/>
          <p:nvPr/>
        </p:nvSpPr>
        <p:spPr>
          <a:xfrm>
            <a:off x="5257800" y="2258568"/>
            <a:ext cx="3337560" cy="493776"/>
          </a:xfrm>
          <a:prstGeom prst="rect">
            <a:avLst/>
          </a:prstGeom>
          <a:noFill/>
          <a:ln/>
        </p:spPr>
        <p:txBody>
          <a:bodyPr wrap="square" lIns="0" tIns="0" rIns="0" bIns="0" rtlCol="0" anchor="ctr"/>
          <a:lstStyle/>
          <a:p>
            <a:pPr marL="0" indent="0">
              <a:buNone/>
            </a:pPr>
            <a:r>
              <a:rPr lang="en-US" sz="1400" b="1" dirty="0">
                <a:solidFill>
                  <a:schemeClr val="tx1"/>
                </a:solidFill>
              </a:rPr>
              <a:t>Take all of B  ·  4 kg</a:t>
            </a:r>
            <a:endParaRPr lang="en-US" sz="1400" dirty="0"/>
          </a:p>
          <a:p>
            <a:pPr marL="0" indent="0">
              <a:buNone/>
            </a:pPr>
            <a:r>
              <a:rPr lang="en-US" sz="1200" dirty="0">
                <a:solidFill>
                  <a:schemeClr val="tx2"/>
                </a:solidFill>
              </a:rPr>
              <a:t>capacity left 1 kg  ·  profit 50</a:t>
            </a:r>
            <a:endParaRPr lang="en-US" sz="1400" dirty="0"/>
          </a:p>
        </p:txBody>
      </p:sp>
      <p:sp>
        <p:nvSpPr>
          <p:cNvPr id="12" name="Step marker 3"/>
          <p:cNvSpPr txBox="1"/>
          <p:nvPr/>
        </p:nvSpPr>
        <p:spPr>
          <a:xfrm>
            <a:off x="4754880" y="2898648"/>
            <a:ext cx="347472" cy="347472"/>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3" name="Text 10"/>
          <p:cNvSpPr txBox="1"/>
          <p:nvPr/>
        </p:nvSpPr>
        <p:spPr>
          <a:xfrm>
            <a:off x="5257800" y="2825496"/>
            <a:ext cx="3337560" cy="493776"/>
          </a:xfrm>
          <a:prstGeom prst="rect">
            <a:avLst/>
          </a:prstGeom>
          <a:noFill/>
          <a:ln/>
        </p:spPr>
        <p:txBody>
          <a:bodyPr wrap="square" lIns="0" tIns="0" rIns="0" bIns="0" rtlCol="0" anchor="ctr"/>
          <a:lstStyle/>
          <a:p>
            <a:pPr marL="0" indent="0">
              <a:buNone/>
            </a:pPr>
            <a:r>
              <a:rPr lang="en-US" sz="1400" b="1" dirty="0">
                <a:solidFill>
                  <a:schemeClr val="tx1"/>
                </a:solidFill>
              </a:rPr>
              <a:t>Take 1/6 of C  ·  1 kg</a:t>
            </a:r>
            <a:endParaRPr lang="en-US" sz="1400" dirty="0"/>
          </a:p>
          <a:p>
            <a:pPr marL="0" indent="0">
              <a:buNone/>
            </a:pPr>
            <a:r>
              <a:rPr lang="en-US" sz="1200" dirty="0">
                <a:solidFill>
                  <a:schemeClr val="tx2"/>
                </a:solidFill>
              </a:rPr>
              <a:t>capacity left 0 kg  ·  profit 53</a:t>
            </a:r>
            <a:endParaRPr lang="en-US" sz="1400" dirty="0"/>
          </a:p>
        </p:txBody>
      </p:sp>
      <p:sp>
        <p:nvSpPr>
          <p:cNvPr id="14" name="Capacity outline"/>
          <p:cNvSpPr/>
          <p:nvPr/>
        </p:nvSpPr>
        <p:spPr>
          <a:xfrm>
            <a:off x="548640" y="3749040"/>
            <a:ext cx="5486400" cy="457200"/>
          </a:xfrm>
          <a:prstGeom prst="rect">
            <a:avLst/>
          </a:prstGeom>
          <a:solidFill>
            <a:schemeClr val="bg1"/>
          </a:solidFill>
          <a:ln w="12700">
            <a:solidFill>
              <a:schemeClr val="accent3"/>
            </a:solidFill>
            <a:prstDash val="solid"/>
          </a:ln>
        </p:spPr>
      </p:sp>
      <p:sp>
        <p:nvSpPr>
          <p:cNvPr id="15" name="Unit divider 1"/>
          <p:cNvSpPr/>
          <p:nvPr/>
        </p:nvSpPr>
        <p:spPr>
          <a:xfrm>
            <a:off x="1097280" y="3749040"/>
            <a:ext cx="0" cy="457200"/>
          </a:xfrm>
          <a:prstGeom prst="line">
            <a:avLst/>
          </a:prstGeom>
          <a:noFill/>
          <a:ln w="9525">
            <a:solidFill>
              <a:schemeClr val="accent4"/>
            </a:solidFill>
            <a:prstDash val="solid"/>
          </a:ln>
        </p:spPr>
      </p:sp>
      <p:sp>
        <p:nvSpPr>
          <p:cNvPr id="16" name="Unit divider 2"/>
          <p:cNvSpPr/>
          <p:nvPr/>
        </p:nvSpPr>
        <p:spPr>
          <a:xfrm>
            <a:off x="1645920" y="3749040"/>
            <a:ext cx="0" cy="457200"/>
          </a:xfrm>
          <a:prstGeom prst="line">
            <a:avLst/>
          </a:prstGeom>
          <a:noFill/>
          <a:ln w="9525">
            <a:solidFill>
              <a:schemeClr val="accent4"/>
            </a:solidFill>
            <a:prstDash val="solid"/>
          </a:ln>
        </p:spPr>
      </p:sp>
      <p:sp>
        <p:nvSpPr>
          <p:cNvPr id="17" name="Unit divider 3"/>
          <p:cNvSpPr/>
          <p:nvPr/>
        </p:nvSpPr>
        <p:spPr>
          <a:xfrm>
            <a:off x="2194560" y="3749040"/>
            <a:ext cx="0" cy="457200"/>
          </a:xfrm>
          <a:prstGeom prst="line">
            <a:avLst/>
          </a:prstGeom>
          <a:noFill/>
          <a:ln w="9525">
            <a:solidFill>
              <a:schemeClr val="accent4"/>
            </a:solidFill>
            <a:prstDash val="solid"/>
          </a:ln>
        </p:spPr>
      </p:sp>
      <p:sp>
        <p:nvSpPr>
          <p:cNvPr id="18" name="Unit divider 4"/>
          <p:cNvSpPr/>
          <p:nvPr/>
        </p:nvSpPr>
        <p:spPr>
          <a:xfrm>
            <a:off x="2743200" y="3749040"/>
            <a:ext cx="0" cy="457200"/>
          </a:xfrm>
          <a:prstGeom prst="line">
            <a:avLst/>
          </a:prstGeom>
          <a:noFill/>
          <a:ln w="9525">
            <a:solidFill>
              <a:schemeClr val="accent4"/>
            </a:solidFill>
            <a:prstDash val="solid"/>
          </a:ln>
        </p:spPr>
      </p:sp>
      <p:sp>
        <p:nvSpPr>
          <p:cNvPr id="19" name="Unit divider 5"/>
          <p:cNvSpPr/>
          <p:nvPr/>
        </p:nvSpPr>
        <p:spPr>
          <a:xfrm>
            <a:off x="3291840" y="3749040"/>
            <a:ext cx="0" cy="457200"/>
          </a:xfrm>
          <a:prstGeom prst="line">
            <a:avLst/>
          </a:prstGeom>
          <a:noFill/>
          <a:ln w="9525">
            <a:solidFill>
              <a:schemeClr val="accent4"/>
            </a:solidFill>
            <a:prstDash val="solid"/>
          </a:ln>
        </p:spPr>
      </p:sp>
      <p:sp>
        <p:nvSpPr>
          <p:cNvPr id="20" name="Unit divider 6"/>
          <p:cNvSpPr/>
          <p:nvPr/>
        </p:nvSpPr>
        <p:spPr>
          <a:xfrm>
            <a:off x="3840480" y="3749040"/>
            <a:ext cx="0" cy="457200"/>
          </a:xfrm>
          <a:prstGeom prst="line">
            <a:avLst/>
          </a:prstGeom>
          <a:noFill/>
          <a:ln w="9525">
            <a:solidFill>
              <a:schemeClr val="accent4"/>
            </a:solidFill>
            <a:prstDash val="solid"/>
          </a:ln>
        </p:spPr>
      </p:sp>
      <p:sp>
        <p:nvSpPr>
          <p:cNvPr id="21" name="Unit divider 7"/>
          <p:cNvSpPr/>
          <p:nvPr/>
        </p:nvSpPr>
        <p:spPr>
          <a:xfrm>
            <a:off x="4389120" y="3749040"/>
            <a:ext cx="0" cy="457200"/>
          </a:xfrm>
          <a:prstGeom prst="line">
            <a:avLst/>
          </a:prstGeom>
          <a:noFill/>
          <a:ln w="9525">
            <a:solidFill>
              <a:schemeClr val="accent4"/>
            </a:solidFill>
            <a:prstDash val="solid"/>
          </a:ln>
        </p:spPr>
      </p:sp>
      <p:sp>
        <p:nvSpPr>
          <p:cNvPr id="22" name="Unit divider 8"/>
          <p:cNvSpPr/>
          <p:nvPr/>
        </p:nvSpPr>
        <p:spPr>
          <a:xfrm>
            <a:off x="4937760" y="3749040"/>
            <a:ext cx="0" cy="457200"/>
          </a:xfrm>
          <a:prstGeom prst="line">
            <a:avLst/>
          </a:prstGeom>
          <a:noFill/>
          <a:ln w="9525">
            <a:solidFill>
              <a:schemeClr val="accent4"/>
            </a:solidFill>
            <a:prstDash val="solid"/>
          </a:ln>
        </p:spPr>
      </p:sp>
      <p:sp>
        <p:nvSpPr>
          <p:cNvPr id="23" name="Unit divider 9"/>
          <p:cNvSpPr/>
          <p:nvPr/>
        </p:nvSpPr>
        <p:spPr>
          <a:xfrm>
            <a:off x="5486400" y="3749040"/>
            <a:ext cx="0" cy="457200"/>
          </a:xfrm>
          <a:prstGeom prst="line">
            <a:avLst/>
          </a:prstGeom>
          <a:noFill/>
          <a:ln w="9525">
            <a:solidFill>
              <a:schemeClr val="accent4"/>
            </a:solidFill>
            <a:prstDash val="solid"/>
          </a:ln>
        </p:spPr>
      </p:sp>
      <p:sp>
        <p:nvSpPr>
          <p:cNvPr id="24" name="Segment 0"/>
          <p:cNvSpPr txBox="1"/>
          <p:nvPr/>
        </p:nvSpPr>
        <p:spPr>
          <a:xfrm>
            <a:off x="548640" y="3749040"/>
            <a:ext cx="2743200" cy="457200"/>
          </a:xfrm>
          <a:prstGeom prst="rect">
            <a:avLst/>
          </a:prstGeom>
          <a:solidFill>
            <a:schemeClr val="accent2"/>
          </a:solidFill>
          <a:ln w="19050">
            <a:solidFill>
              <a:schemeClr val="bg1"/>
            </a:solidFill>
          </a:ln>
        </p:spPr>
        <p:txBody>
          <a:bodyPr wrap="square" lIns="0" tIns="0" rIns="0" bIns="0" rtlCol="0" anchor="ctr"/>
          <a:lstStyle/>
          <a:p>
            <a:pPr marL="0" indent="0" algn="ctr">
              <a:buNone/>
            </a:pPr>
            <a:r>
              <a:rPr lang="en-US" sz="1300" b="1" dirty="0">
                <a:solidFill>
                  <a:schemeClr val="bg1"/>
                </a:solidFill>
              </a:rPr>
              <a:t>A · 5 kg</a:t>
            </a:r>
            <a:endParaRPr lang="en-US" sz="1300" dirty="0"/>
          </a:p>
        </p:txBody>
      </p:sp>
      <p:sp>
        <p:nvSpPr>
          <p:cNvPr id="25" name="Segment 1"/>
          <p:cNvSpPr txBox="1"/>
          <p:nvPr/>
        </p:nvSpPr>
        <p:spPr>
          <a:xfrm>
            <a:off x="3291840" y="3749040"/>
            <a:ext cx="2194560" cy="457200"/>
          </a:xfrm>
          <a:prstGeom prst="rect">
            <a:avLst/>
          </a:prstGeom>
          <a:solidFill>
            <a:schemeClr val="accent3"/>
          </a:solidFill>
          <a:ln w="19050">
            <a:solidFill>
              <a:schemeClr val="bg1"/>
            </a:solidFill>
          </a:ln>
        </p:spPr>
        <p:txBody>
          <a:bodyPr wrap="square" lIns="0" tIns="0" rIns="0" bIns="0" rtlCol="0" anchor="ctr"/>
          <a:lstStyle/>
          <a:p>
            <a:pPr marL="0" indent="0" algn="ctr">
              <a:buNone/>
            </a:pPr>
            <a:r>
              <a:rPr lang="en-US" sz="1300" b="1" dirty="0">
                <a:solidFill>
                  <a:schemeClr val="bg1"/>
                </a:solidFill>
              </a:rPr>
              <a:t>B · 4 kg</a:t>
            </a:r>
            <a:endParaRPr lang="en-US" sz="1300" dirty="0"/>
          </a:p>
        </p:txBody>
      </p:sp>
      <p:sp>
        <p:nvSpPr>
          <p:cNvPr id="26" name="Segment 2"/>
          <p:cNvSpPr txBox="1"/>
          <p:nvPr/>
        </p:nvSpPr>
        <p:spPr>
          <a:xfrm>
            <a:off x="5486400" y="3749040"/>
            <a:ext cx="548640" cy="457200"/>
          </a:xfrm>
          <a:prstGeom prst="rect">
            <a:avLst/>
          </a:prstGeom>
          <a:solidFill>
            <a:schemeClr val="accent4"/>
          </a:solidFill>
          <a:ln w="25400">
            <a:solidFill>
              <a:schemeClr val="accent1"/>
            </a:solidFill>
          </a:ln>
        </p:spPr>
        <p:txBody>
          <a:bodyPr wrap="square" lIns="0" tIns="0" rIns="0" bIns="0" rtlCol="0" anchor="ctr"/>
          <a:lstStyle/>
          <a:p>
            <a:pPr marL="0" indent="0" algn="ctr">
              <a:buNone/>
            </a:pPr>
            <a:r>
              <a:rPr lang="en-US" sz="1300" b="1" dirty="0">
                <a:solidFill>
                  <a:schemeClr val="tx1"/>
                </a:solidFill>
              </a:rPr>
              <a:t>C</a:t>
            </a:r>
            <a:endParaRPr lang="en-US" sz="1300" dirty="0"/>
          </a:p>
        </p:txBody>
      </p:sp>
      <p:sp>
        <p:nvSpPr>
          <p:cNvPr id="27" name="Text 24"/>
          <p:cNvSpPr txBox="1"/>
          <p:nvPr/>
        </p:nvSpPr>
        <p:spPr>
          <a:xfrm>
            <a:off x="548640" y="4242816"/>
            <a:ext cx="457200" cy="182880"/>
          </a:xfrm>
          <a:prstGeom prst="rect">
            <a:avLst/>
          </a:prstGeom>
          <a:noFill/>
          <a:ln/>
        </p:spPr>
        <p:txBody>
          <a:bodyPr wrap="square" lIns="0" tIns="0" rIns="0" bIns="0" rtlCol="0" anchor="t"/>
          <a:lstStyle/>
          <a:p>
            <a:pPr marL="0" indent="0">
              <a:buNone/>
            </a:pPr>
            <a:r>
              <a:rPr lang="en-US" sz="1000" dirty="0">
                <a:solidFill>
                  <a:schemeClr val="tx2"/>
                </a:solidFill>
              </a:rPr>
              <a:t>0</a:t>
            </a:r>
            <a:endParaRPr lang="en-US" sz="1000" dirty="0"/>
          </a:p>
        </p:txBody>
      </p:sp>
      <p:sp>
        <p:nvSpPr>
          <p:cNvPr id="28" name="Text 25"/>
          <p:cNvSpPr txBox="1"/>
          <p:nvPr/>
        </p:nvSpPr>
        <p:spPr>
          <a:xfrm>
            <a:off x="3063240" y="4242816"/>
            <a:ext cx="457200" cy="182880"/>
          </a:xfrm>
          <a:prstGeom prst="rect">
            <a:avLst/>
          </a:prstGeom>
          <a:noFill/>
          <a:ln/>
        </p:spPr>
        <p:txBody>
          <a:bodyPr wrap="square" lIns="0" tIns="0" rIns="0" bIns="0" rtlCol="0" anchor="t"/>
          <a:lstStyle/>
          <a:p>
            <a:pPr marL="0" indent="0" algn="ctr">
              <a:buNone/>
            </a:pPr>
            <a:r>
              <a:rPr lang="en-US" sz="1000" dirty="0">
                <a:solidFill>
                  <a:schemeClr val="tx2"/>
                </a:solidFill>
              </a:rPr>
              <a:t>5</a:t>
            </a:r>
            <a:endParaRPr lang="en-US" sz="1000" dirty="0"/>
          </a:p>
        </p:txBody>
      </p:sp>
      <p:sp>
        <p:nvSpPr>
          <p:cNvPr id="29" name="Text 26"/>
          <p:cNvSpPr txBox="1"/>
          <p:nvPr/>
        </p:nvSpPr>
        <p:spPr>
          <a:xfrm>
            <a:off x="5303520" y="4242816"/>
            <a:ext cx="731520" cy="182880"/>
          </a:xfrm>
          <a:prstGeom prst="rect">
            <a:avLst/>
          </a:prstGeom>
          <a:noFill/>
          <a:ln/>
        </p:spPr>
        <p:txBody>
          <a:bodyPr wrap="square" lIns="0" tIns="0" rIns="0" bIns="0" rtlCol="0" anchor="t"/>
          <a:lstStyle/>
          <a:p>
            <a:pPr marL="0" indent="0" algn="r">
              <a:buNone/>
            </a:pPr>
            <a:r>
              <a:rPr lang="en-US" sz="1000" dirty="0">
                <a:solidFill>
                  <a:schemeClr val="tx2"/>
                </a:solidFill>
              </a:rPr>
              <a:t>10 kg</a:t>
            </a:r>
            <a:endParaRPr lang="en-US" sz="1000" dirty="0"/>
          </a:p>
        </p:txBody>
      </p:sp>
      <p:sp>
        <p:nvSpPr>
          <p:cNvPr id="30" name="Text 27"/>
          <p:cNvSpPr txBox="1"/>
          <p:nvPr/>
        </p:nvSpPr>
        <p:spPr>
          <a:xfrm>
            <a:off x="5120640" y="3502152"/>
            <a:ext cx="1280160" cy="201168"/>
          </a:xfrm>
          <a:prstGeom prst="rect">
            <a:avLst/>
          </a:prstGeom>
          <a:noFill/>
          <a:ln/>
        </p:spPr>
        <p:txBody>
          <a:bodyPr wrap="square" lIns="0" tIns="0" rIns="0" bIns="0" rtlCol="0" anchor="t"/>
          <a:lstStyle/>
          <a:p>
            <a:pPr marL="0" indent="0" algn="ctr">
              <a:buNone/>
            </a:pPr>
            <a:r>
              <a:rPr lang="en-US" sz="1100" b="1" dirty="0">
                <a:solidFill>
                  <a:schemeClr val="accent1"/>
                </a:solidFill>
              </a:rPr>
              <a:t>1/6 of C</a:t>
            </a:r>
            <a:endParaRPr lang="en-US" sz="1100" dirty="0"/>
          </a:p>
        </p:txBody>
      </p:sp>
      <p:sp>
        <p:nvSpPr>
          <p:cNvPr id="31" name="Text 28"/>
          <p:cNvSpPr txBox="1"/>
          <p:nvPr/>
        </p:nvSpPr>
        <p:spPr>
          <a:xfrm>
            <a:off x="6492240" y="3611880"/>
            <a:ext cx="1097280" cy="685800"/>
          </a:xfrm>
          <a:prstGeom prst="rect">
            <a:avLst/>
          </a:prstGeom>
          <a:noFill/>
          <a:ln/>
        </p:spPr>
        <p:txBody>
          <a:bodyPr wrap="square" lIns="0" tIns="0" rIns="0" bIns="0" rtlCol="0" anchor="ctr"/>
          <a:lstStyle/>
          <a:p>
            <a:pPr marL="0" indent="0">
              <a:buNone/>
            </a:pPr>
            <a:r>
              <a:rPr lang="en-US" sz="4800" b="1" dirty="0">
                <a:solidFill>
                  <a:schemeClr val="accent1"/>
                </a:solidFill>
                <a:latin typeface="+mj-lt" pitchFamily="34" charset="0"/>
                <a:ea typeface="+mj-lt" pitchFamily="34" charset="-122"/>
                <a:cs typeface="+mj-lt" pitchFamily="34" charset="-120"/>
              </a:rPr>
              <a:t>53</a:t>
            </a:r>
            <a:endParaRPr lang="en-US" sz="4800" dirty="0"/>
          </a:p>
        </p:txBody>
      </p:sp>
      <p:sp>
        <p:nvSpPr>
          <p:cNvPr id="32" name="Text 29"/>
          <p:cNvSpPr txBox="1"/>
          <p:nvPr/>
        </p:nvSpPr>
        <p:spPr>
          <a:xfrm>
            <a:off x="7589520" y="3611880"/>
            <a:ext cx="1005840" cy="685800"/>
          </a:xfrm>
          <a:prstGeom prst="rect">
            <a:avLst/>
          </a:prstGeom>
          <a:noFill/>
          <a:ln/>
        </p:spPr>
        <p:txBody>
          <a:bodyPr wrap="square" lIns="0" tIns="0" rIns="0" bIns="0" rtlCol="0" anchor="ctr"/>
          <a:lstStyle/>
          <a:p>
            <a:pPr marL="0" indent="0">
              <a:buNone/>
            </a:pPr>
            <a:r>
              <a:rPr lang="en-US" sz="1100" dirty="0">
                <a:solidFill>
                  <a:schemeClr val="tx2"/>
                </a:solidFill>
              </a:rPr>
              <a:t>total</a:t>
            </a:r>
            <a:endParaRPr lang="en-US" sz="1100" dirty="0"/>
          </a:p>
          <a:p>
            <a:pPr marL="0" indent="0">
              <a:buNone/>
            </a:pPr>
            <a:r>
              <a:rPr lang="en-US" sz="1300" dirty="0">
                <a:solidFill>
                  <a:schemeClr val="tx1"/>
                </a:solidFill>
              </a:rPr>
              <a:t>profit</a:t>
            </a:r>
            <a:endParaRPr lang="en-US" sz="1100" dirty="0"/>
          </a:p>
        </p:txBody>
      </p:sp>
      <p:sp>
        <p:nvSpPr>
          <p:cNvPr id="33"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046720" cy="237744"/>
          </a:xfrm>
          <a:prstGeom prst="rect">
            <a:avLst/>
          </a:prstGeom>
          <a:noFill/>
          <a:ln/>
        </p:spPr>
        <p:txBody>
          <a:bodyPr wrap="square" lIns="0" tIns="0" rIns="0" bIns="0" rtlCol="0" anchor="ctr"/>
          <a:lstStyle/>
          <a:p>
            <a:pPr marL="0" indent="0" algn="l">
              <a:buNone/>
            </a:pPr>
            <a:r>
              <a:rPr lang="en-US" sz="1100" b="1" kern="0" spc="300" dirty="0">
                <a:solidFill>
                  <a:schemeClr val="accent1"/>
                </a:solidFill>
              </a:rPr>
              <a:t>05  ·  GREEDY: EXAMPLE AND COUNTEREXAMPLE</a:t>
            </a:r>
            <a:endParaRPr lang="en-US" sz="1100" dirty="0"/>
          </a:p>
        </p:txBody>
      </p:sp>
      <p:sp>
        <p:nvSpPr>
          <p:cNvPr id="3" name="Text 0"/>
          <p:cNvSpPr>
            <a:spLocks noGrp="1"/>
          </p:cNvSpPr>
          <p:nvPr>
            <p:ph type="title" idx="101" hasCustomPrompt="1"/>
          </p:nvPr>
        </p:nvSpPr>
        <p:spPr>
          <a:xfrm>
            <a:off x="548640" y="603504"/>
            <a:ext cx="8046720" cy="566928"/>
          </a:xfrm>
          <a:prstGeom prst="rect">
            <a:avLst/>
          </a:prstGeom>
          <a:noFill/>
          <a:ln/>
        </p:spPr>
        <p:txBody>
          <a:bodyPr wrap="square" lIns="0" tIns="0" rIns="0" bIns="0" rtlCol="0" anchor="ctr"/>
          <a:lstStyle/>
          <a:p>
            <a:pPr marL="0" indent="0" algn="l">
              <a:buNone/>
            </a:pPr>
            <a:r>
              <a:rPr lang="en-US" sz="3200" b="1" dirty="0">
                <a:solidFill>
                  <a:schemeClr val="tx1"/>
                </a:solidFill>
              </a:rPr>
              <a:t>Where greedy breaks</a:t>
            </a:r>
            <a:endParaRPr lang="en-US" sz="3200" dirty="0"/>
          </a:p>
        </p:txBody>
      </p:sp>
      <p:sp>
        <p:nvSpPr>
          <p:cNvPr id="4" name="Panel greedy example"/>
          <p:cNvSpPr/>
          <p:nvPr/>
        </p:nvSpPr>
        <p:spPr>
          <a:xfrm>
            <a:off x="548640" y="1325880"/>
            <a:ext cx="2926080" cy="3154680"/>
          </a:xfrm>
          <a:prstGeom prst="rect">
            <a:avLst/>
          </a:prstGeom>
          <a:solidFill>
            <a:schemeClr val="bg2"/>
          </a:solidFill>
          <a:ln/>
        </p:spPr>
      </p:sp>
      <p:sp>
        <p:nvSpPr>
          <p:cNvPr id="5" name="Text 3"/>
          <p:cNvSpPr txBox="1"/>
          <p:nvPr/>
        </p:nvSpPr>
        <p:spPr>
          <a:xfrm>
            <a:off x="777240" y="1463040"/>
            <a:ext cx="2560320" cy="228600"/>
          </a:xfrm>
          <a:prstGeom prst="rect">
            <a:avLst/>
          </a:prstGeom>
          <a:noFill/>
          <a:ln/>
        </p:spPr>
        <p:txBody>
          <a:bodyPr wrap="square" lIns="0" tIns="0" rIns="0" bIns="0" rtlCol="0" anchor="ctr"/>
          <a:lstStyle/>
          <a:p>
            <a:pPr marL="0" indent="0">
              <a:buNone/>
            </a:pPr>
            <a:r>
              <a:rPr lang="en-US" sz="1100" b="1" kern="0" spc="300" dirty="0">
                <a:solidFill>
                  <a:schemeClr val="accent1"/>
                </a:solidFill>
              </a:rPr>
              <a:t>GREEDY EXAMPLE</a:t>
            </a:r>
            <a:endParaRPr lang="en-US" sz="1100" dirty="0"/>
          </a:p>
        </p:txBody>
      </p:sp>
      <p:sp>
        <p:nvSpPr>
          <p:cNvPr id="6" name="Text 4"/>
          <p:cNvSpPr txBox="1"/>
          <p:nvPr/>
        </p:nvSpPr>
        <p:spPr>
          <a:xfrm>
            <a:off x="777240" y="1737360"/>
            <a:ext cx="2560320" cy="256032"/>
          </a:xfrm>
          <a:prstGeom prst="rect">
            <a:avLst/>
          </a:prstGeom>
          <a:noFill/>
          <a:ln/>
        </p:spPr>
        <p:txBody>
          <a:bodyPr wrap="square" lIns="0" tIns="0" rIns="0" bIns="0" rtlCol="0" anchor="ctr"/>
          <a:lstStyle/>
          <a:p>
            <a:pPr marL="0" indent="0">
              <a:buNone/>
            </a:pPr>
            <a:r>
              <a:rPr lang="en-US" sz="1300" dirty="0">
                <a:solidFill>
                  <a:schemeClr val="tx2"/>
                </a:solidFill>
              </a:rPr>
              <a:t>Items A, B, C  ·  W = 10</a:t>
            </a:r>
            <a:endParaRPr lang="en-US" sz="1300" dirty="0"/>
          </a:p>
        </p:txBody>
      </p:sp>
      <p:sp>
        <p:nvSpPr>
          <p:cNvPr id="7" name="Text 5"/>
          <p:cNvSpPr txBox="1"/>
          <p:nvPr/>
        </p:nvSpPr>
        <p:spPr>
          <a:xfrm>
            <a:off x="777240" y="2176272"/>
            <a:ext cx="2560320" cy="228600"/>
          </a:xfrm>
          <a:prstGeom prst="rect">
            <a:avLst/>
          </a:prstGeom>
          <a:noFill/>
          <a:ln/>
        </p:spPr>
        <p:txBody>
          <a:bodyPr wrap="square" lIns="0" tIns="0" rIns="0" bIns="0" rtlCol="0" anchor="ctr"/>
          <a:lstStyle/>
          <a:p>
            <a:pPr marL="0" indent="0">
              <a:buNone/>
            </a:pPr>
            <a:r>
              <a:rPr lang="en-US" sz="1100" b="1" kern="0" spc="300" dirty="0">
                <a:solidFill>
                  <a:schemeClr val="tx2"/>
                </a:solidFill>
              </a:rPr>
              <a:t>FRACTIONAL</a:t>
            </a:r>
            <a:endParaRPr lang="en-US" sz="1100" dirty="0"/>
          </a:p>
        </p:txBody>
      </p:sp>
      <p:sp>
        <p:nvSpPr>
          <p:cNvPr id="8" name="Text 6"/>
          <p:cNvSpPr txBox="1"/>
          <p:nvPr/>
        </p:nvSpPr>
        <p:spPr>
          <a:xfrm>
            <a:off x="777240" y="2395728"/>
            <a:ext cx="868680" cy="502920"/>
          </a:xfrm>
          <a:prstGeom prst="rect">
            <a:avLst/>
          </a:prstGeom>
          <a:noFill/>
          <a:ln/>
        </p:spPr>
        <p:txBody>
          <a:bodyPr wrap="square" lIns="0" tIns="0" rIns="0" bIns="0" rtlCol="0" anchor="ctr"/>
          <a:lstStyle/>
          <a:p>
            <a:pPr marL="0" indent="0">
              <a:buNone/>
            </a:pPr>
            <a:r>
              <a:rPr lang="en-US" sz="3400" b="1" dirty="0">
                <a:solidFill>
                  <a:schemeClr val="accent1"/>
                </a:solidFill>
                <a:latin typeface="+mj-lt" pitchFamily="34" charset="0"/>
                <a:ea typeface="+mj-lt" pitchFamily="34" charset="-122"/>
                <a:cs typeface="+mj-lt" pitchFamily="34" charset="-120"/>
              </a:rPr>
              <a:t>53</a:t>
            </a:r>
            <a:endParaRPr lang="en-US" sz="3400" dirty="0"/>
          </a:p>
        </p:txBody>
      </p:sp>
      <p:sp>
        <p:nvSpPr>
          <p:cNvPr id="9" name="Text 7"/>
          <p:cNvSpPr txBox="1"/>
          <p:nvPr/>
        </p:nvSpPr>
        <p:spPr>
          <a:xfrm>
            <a:off x="1691640" y="2395728"/>
            <a:ext cx="1645920" cy="502920"/>
          </a:xfrm>
          <a:prstGeom prst="rect">
            <a:avLst/>
          </a:prstGeom>
          <a:noFill/>
          <a:ln/>
        </p:spPr>
        <p:txBody>
          <a:bodyPr wrap="square" lIns="0" tIns="0" rIns="0" bIns="0" rtlCol="0" anchor="ctr"/>
          <a:lstStyle/>
          <a:p>
            <a:pPr marL="0" indent="0">
              <a:buNone/>
            </a:pPr>
            <a:r>
              <a:rPr lang="en-US" sz="1300" dirty="0">
                <a:solidFill>
                  <a:schemeClr val="tx1"/>
                </a:solidFill>
              </a:rPr>
              <a:t>A + B + 1/6 of C</a:t>
            </a:r>
            <a:endParaRPr lang="en-US" sz="1300" dirty="0"/>
          </a:p>
        </p:txBody>
      </p:sp>
      <p:sp>
        <p:nvSpPr>
          <p:cNvPr id="10" name="Text 8"/>
          <p:cNvSpPr txBox="1"/>
          <p:nvPr/>
        </p:nvSpPr>
        <p:spPr>
          <a:xfrm>
            <a:off x="777240" y="3017520"/>
            <a:ext cx="2560320" cy="228600"/>
          </a:xfrm>
          <a:prstGeom prst="rect">
            <a:avLst/>
          </a:prstGeom>
          <a:noFill/>
          <a:ln/>
        </p:spPr>
        <p:txBody>
          <a:bodyPr wrap="square" lIns="0" tIns="0" rIns="0" bIns="0" rtlCol="0" anchor="ctr"/>
          <a:lstStyle/>
          <a:p>
            <a:pPr marL="0" indent="0">
              <a:buNone/>
            </a:pPr>
            <a:r>
              <a:rPr lang="en-US" sz="1100" b="1" kern="0" spc="300" dirty="0">
                <a:solidFill>
                  <a:schemeClr val="tx2"/>
                </a:solidFill>
              </a:rPr>
              <a:t>0/1, WHOLE ITEMS</a:t>
            </a:r>
            <a:endParaRPr lang="en-US" sz="1100" dirty="0"/>
          </a:p>
        </p:txBody>
      </p:sp>
      <p:sp>
        <p:nvSpPr>
          <p:cNvPr id="11" name="Text 9"/>
          <p:cNvSpPr txBox="1"/>
          <p:nvPr/>
        </p:nvSpPr>
        <p:spPr>
          <a:xfrm>
            <a:off x="777240" y="3236976"/>
            <a:ext cx="868680" cy="502920"/>
          </a:xfrm>
          <a:prstGeom prst="rect">
            <a:avLst/>
          </a:prstGeom>
          <a:noFill/>
          <a:ln/>
        </p:spPr>
        <p:txBody>
          <a:bodyPr wrap="square" lIns="0" tIns="0" rIns="0" bIns="0" rtlCol="0" anchor="ctr"/>
          <a:lstStyle/>
          <a:p>
            <a:pPr marL="0" indent="0">
              <a:buNone/>
            </a:pPr>
            <a:r>
              <a:rPr lang="en-US" sz="3400" b="1" dirty="0">
                <a:solidFill>
                  <a:schemeClr val="accent1"/>
                </a:solidFill>
                <a:latin typeface="+mj-lt" pitchFamily="34" charset="0"/>
                <a:ea typeface="+mj-lt" pitchFamily="34" charset="-122"/>
                <a:cs typeface="+mj-lt" pitchFamily="34" charset="-120"/>
              </a:rPr>
              <a:t>50</a:t>
            </a:r>
            <a:endParaRPr lang="en-US" sz="3400" dirty="0"/>
          </a:p>
        </p:txBody>
      </p:sp>
      <p:sp>
        <p:nvSpPr>
          <p:cNvPr id="12" name="Text 10"/>
          <p:cNvSpPr txBox="1"/>
          <p:nvPr/>
        </p:nvSpPr>
        <p:spPr>
          <a:xfrm>
            <a:off x="1691640" y="3236976"/>
            <a:ext cx="1645920" cy="502920"/>
          </a:xfrm>
          <a:prstGeom prst="rect">
            <a:avLst/>
          </a:prstGeom>
          <a:noFill/>
          <a:ln/>
        </p:spPr>
        <p:txBody>
          <a:bodyPr wrap="square" lIns="0" tIns="0" rIns="0" bIns="0" rtlCol="0" anchor="ctr"/>
          <a:lstStyle/>
          <a:p>
            <a:pPr marL="0" indent="0">
              <a:buNone/>
            </a:pPr>
            <a:r>
              <a:rPr lang="en-US" sz="1300" dirty="0">
                <a:solidFill>
                  <a:schemeClr val="tx1"/>
                </a:solidFill>
              </a:rPr>
              <a:t>A + B</a:t>
            </a:r>
            <a:endParaRPr lang="en-US" sz="1300" dirty="0"/>
          </a:p>
        </p:txBody>
      </p:sp>
      <p:sp>
        <p:nvSpPr>
          <p:cNvPr id="13" name="Text 11"/>
          <p:cNvSpPr txBox="1"/>
          <p:nvPr/>
        </p:nvSpPr>
        <p:spPr>
          <a:xfrm>
            <a:off x="777240" y="3840480"/>
            <a:ext cx="2514600" cy="502920"/>
          </a:xfrm>
          <a:prstGeom prst="rect">
            <a:avLst/>
          </a:prstGeom>
          <a:noFill/>
          <a:ln/>
        </p:spPr>
        <p:txBody>
          <a:bodyPr wrap="square" lIns="0" tIns="0" rIns="0" bIns="0" rtlCol="0" anchor="t"/>
          <a:lstStyle/>
          <a:p>
            <a:pPr marL="0" indent="0">
              <a:buNone/>
            </a:pPr>
            <a:r>
              <a:rPr lang="en-US" sz="1200" i="1" dirty="0">
                <a:solidFill>
                  <a:schemeClr val="tx2"/>
                </a:solidFill>
              </a:rPr>
              <a:t>Optimal for fractional, always. For 0/1 it was lucky here.</a:t>
            </a:r>
            <a:endParaRPr lang="en-US" sz="1200" dirty="0"/>
          </a:p>
        </p:txBody>
      </p:sp>
      <p:sp>
        <p:nvSpPr>
          <p:cNvPr id="14" name="Panel counterexample"/>
          <p:cNvSpPr/>
          <p:nvPr/>
        </p:nvSpPr>
        <p:spPr>
          <a:xfrm>
            <a:off x="3749040" y="1325880"/>
            <a:ext cx="4846320" cy="3154680"/>
          </a:xfrm>
          <a:prstGeom prst="rect">
            <a:avLst/>
          </a:prstGeom>
          <a:solidFill>
            <a:schemeClr val="bg2"/>
          </a:solidFill>
          <a:ln/>
        </p:spPr>
      </p:sp>
      <p:sp>
        <p:nvSpPr>
          <p:cNvPr id="15" name="Text 13"/>
          <p:cNvSpPr txBox="1"/>
          <p:nvPr/>
        </p:nvSpPr>
        <p:spPr>
          <a:xfrm>
            <a:off x="3977640" y="1463040"/>
            <a:ext cx="4389120" cy="228600"/>
          </a:xfrm>
          <a:prstGeom prst="rect">
            <a:avLst/>
          </a:prstGeom>
          <a:noFill/>
          <a:ln/>
        </p:spPr>
        <p:txBody>
          <a:bodyPr wrap="square" lIns="0" tIns="0" rIns="0" bIns="0" rtlCol="0" anchor="ctr"/>
          <a:lstStyle/>
          <a:p>
            <a:pPr marL="0" indent="0">
              <a:buNone/>
            </a:pPr>
            <a:r>
              <a:rPr lang="en-US" sz="1100" b="1" kern="0" spc="300" dirty="0">
                <a:solidFill>
                  <a:schemeClr val="accent1"/>
                </a:solidFill>
              </a:rPr>
              <a:t>COUNTEREXAMPLE  ·  0/1  ·  W = 10</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977640" y="1783080"/>
          <a:ext cx="2468880" cy="1143000"/>
        </p:xfrm>
        <a:graphic>
          <a:graphicData uri="http://schemas.openxmlformats.org/drawingml/2006/table">
            <a:tbl>
              <a:tblPr/>
              <a:tblGrid>
                <a:gridCol w="54864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274320">
                <a:tc>
                  <a:txBody>
                    <a:bodyPr/>
                    <a:lstStyle/>
                    <a:p>
                      <a:pPr marL="0" indent="0" algn="ctr">
                        <a:buNone/>
                      </a:pPr>
                      <a:r>
                        <a:rPr lang="en-US" sz="1100" b="1" dirty="0">
                          <a:solidFill>
                            <a:schemeClr val="tx2"/>
                          </a:solidFill>
                        </a:rPr>
                        <a:t>ITEM</a:t>
                      </a:r>
                      <a:endParaRPr lang="en-US" sz="11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b="1" dirty="0">
                          <a:solidFill>
                            <a:schemeClr val="tx2"/>
                          </a:solidFill>
                        </a:rPr>
                        <a:t>w</a:t>
                      </a:r>
                      <a:endParaRPr lang="en-US" sz="11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b="1" dirty="0">
                          <a:solidFill>
                            <a:schemeClr val="tx2"/>
                          </a:solidFill>
                        </a:rPr>
                        <a:t>p</a:t>
                      </a:r>
                      <a:endParaRPr lang="en-US" sz="11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b="1" dirty="0">
                          <a:solidFill>
                            <a:schemeClr val="tx2"/>
                          </a:solidFill>
                        </a:rPr>
                        <a:t>p / w</a:t>
                      </a:r>
                      <a:endParaRPr lang="en-US" sz="11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pPr marL="0" indent="0" algn="ctr">
                        <a:buNone/>
                      </a:pPr>
                      <a:r>
                        <a:rPr lang="en-US" sz="1300" b="1" dirty="0">
                          <a:solidFill>
                            <a:schemeClr val="bg1"/>
                          </a:solidFill>
                          <a:latin typeface="+mj-lt" pitchFamily="34" charset="0"/>
                          <a:ea typeface="+mj-lt" pitchFamily="34" charset="-122"/>
                          <a:cs typeface="+mj-lt" pitchFamily="34" charset="-120"/>
                        </a:rPr>
                        <a:t>1</a:t>
                      </a:r>
                      <a:endParaRPr lang="en-US" sz="1300" dirty="0">
                        <a:latin typeface="+mj-lt" charset="0"/>
                        <a:ea typeface="+mj-lt" charset="0"/>
                        <a:cs typeface="+mj-lt" charset="0"/>
                      </a:endParaRPr>
                    </a:p>
                  </a:txBody>
                  <a:tcPr anchor="ctr">
                    <a:lnL w="0" cap="flat" cmpd="sng" algn="ctr">
                      <a:noFill/>
                    </a:lnL>
                    <a:lnR w="0" cap="flat" cmpd="sng" algn="ctr">
                      <a:noFill/>
                    </a:lnR>
                    <a:lnT w="12700" cap="flat" cmpd="sng" algn="ctr">
                      <a:solidFill>
                        <a:schemeClr val="tx1"/>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2"/>
                    </a:solidFill>
                  </a:tcPr>
                </a:tc>
                <a:tc>
                  <a:txBody>
                    <a:bodyPr/>
                    <a:lstStyle/>
                    <a:p>
                      <a:pPr marL="0" indent="0" algn="ctr">
                        <a:buNone/>
                      </a:pPr>
                      <a:r>
                        <a:rPr lang="en-US" sz="1300" dirty="0">
                          <a:solidFill>
                            <a:schemeClr val="tx1"/>
                          </a:solidFill>
                        </a:rPr>
                        <a:t>6</a:t>
                      </a:r>
                      <a:endParaRPr lang="en-US" sz="1300" dirty="0"/>
                    </a:p>
                  </a:txBody>
                  <a:tcPr anchor="ctr">
                    <a:lnL w="0" cap="flat" cmpd="sng" algn="ctr">
                      <a:noFill/>
                    </a:lnL>
                    <a:lnR w="0" cap="flat" cmpd="sng" algn="ctr">
                      <a:noFill/>
                    </a:lnR>
                    <a:lnT w="12700" cap="flat" cmpd="sng" algn="ctr">
                      <a:solidFill>
                        <a:schemeClr val="tx1"/>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30</a:t>
                      </a:r>
                      <a:endParaRPr lang="en-US" sz="1300" dirty="0"/>
                    </a:p>
                  </a:txBody>
                  <a:tcPr anchor="ctr">
                    <a:lnL w="0" cap="flat" cmpd="sng" algn="ctr">
                      <a:noFill/>
                    </a:lnL>
                    <a:lnR w="0" cap="flat" cmpd="sng" algn="ctr">
                      <a:noFill/>
                    </a:lnR>
                    <a:lnT w="12700" cap="flat" cmpd="sng" algn="ctr">
                      <a:solidFill>
                        <a:schemeClr val="tx1"/>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ctr">
                        <a:buNone/>
                      </a:pPr>
                      <a:r>
                        <a:rPr lang="en-US" sz="1300" b="1" dirty="0">
                          <a:solidFill>
                            <a:schemeClr val="tx1"/>
                          </a:solidFill>
                        </a:rPr>
                        <a:t>5.0</a:t>
                      </a:r>
                      <a:endParaRPr lang="en-US" sz="1300" dirty="0"/>
                    </a:p>
                  </a:txBody>
                  <a:tcPr anchor="ctr">
                    <a:lnL w="0" cap="flat" cmpd="sng" algn="ctr">
                      <a:noFill/>
                    </a:lnL>
                    <a:lnR w="0" cap="flat" cmpd="sng" algn="ctr">
                      <a:noFill/>
                    </a:lnR>
                    <a:lnT w="12700" cap="flat" cmpd="sng" algn="ctr">
                      <a:solidFill>
                        <a:schemeClr val="tx1"/>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ctr">
                        <a:buNone/>
                      </a:pPr>
                      <a:r>
                        <a:rPr lang="en-US" sz="1300" b="1" dirty="0">
                          <a:solidFill>
                            <a:schemeClr val="bg1"/>
                          </a:solidFill>
                          <a:latin typeface="+mj-lt" pitchFamily="34" charset="0"/>
                          <a:ea typeface="+mj-lt" pitchFamily="34" charset="-122"/>
                          <a:cs typeface="+mj-lt" pitchFamily="34" charset="-120"/>
                        </a:rPr>
                        <a:t>2</a:t>
                      </a:r>
                      <a:endParaRPr lang="en-US" sz="1300" dirty="0">
                        <a:latin typeface="+mj-lt" charset="0"/>
                        <a:ea typeface="+mj-lt" charset="0"/>
                        <a:cs typeface="+mj-lt" charset="0"/>
                      </a:endParaRPr>
                    </a:p>
                  </a:txBody>
                  <a:tcPr anchor="ctr">
                    <a:lnL w="0" cap="flat" cmpd="sng" algn="ctr">
                      <a:noFill/>
                    </a:lnL>
                    <a:lnR w="0" cap="flat" cmpd="sng" algn="ctr">
                      <a:noFill/>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3"/>
                    </a:solidFill>
                  </a:tcPr>
                </a:tc>
                <a:tc>
                  <a:txBody>
                    <a:bodyPr/>
                    <a:lstStyle/>
                    <a:p>
                      <a:pPr marL="0" indent="0" algn="ctr">
                        <a:buNone/>
                      </a:pPr>
                      <a:r>
                        <a:rPr lang="en-US" sz="1300" dirty="0">
                          <a:solidFill>
                            <a:schemeClr val="tx1"/>
                          </a:solidFill>
                        </a:rPr>
                        <a:t>5</a:t>
                      </a:r>
                      <a:endParaRPr lang="en-US" sz="1300" dirty="0"/>
                    </a:p>
                  </a:txBody>
                  <a:tcPr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24</a:t>
                      </a:r>
                      <a:endParaRPr lang="en-US" sz="1300" dirty="0"/>
                    </a:p>
                  </a:txBody>
                  <a:tcPr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4.8</a:t>
                      </a:r>
                      <a:endParaRPr lang="en-US" sz="1300" dirty="0"/>
                    </a:p>
                  </a:txBody>
                  <a:tcPr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ctr">
                        <a:buNone/>
                      </a:pPr>
                      <a:r>
                        <a:rPr lang="en-US" sz="1300" b="1" dirty="0">
                          <a:solidFill>
                            <a:schemeClr val="tx1"/>
                          </a:solidFill>
                          <a:latin typeface="+mj-lt" pitchFamily="34" charset="0"/>
                          <a:ea typeface="+mj-lt" pitchFamily="34" charset="-122"/>
                          <a:cs typeface="+mj-lt" pitchFamily="34" charset="-120"/>
                        </a:rPr>
                        <a:t>3</a:t>
                      </a:r>
                      <a:endParaRPr lang="en-US" sz="1300" dirty="0">
                        <a:latin typeface="+mj-lt" charset="0"/>
                        <a:ea typeface="+mj-lt" charset="0"/>
                        <a:cs typeface="+mj-lt" charset="0"/>
                      </a:endParaRPr>
                    </a:p>
                  </a:txBody>
                  <a:tcPr anchor="ctr">
                    <a:lnL w="0" cap="flat" cmpd="sng" algn="ctr">
                      <a:noFill/>
                    </a:lnL>
                    <a:lnR w="0" cap="flat" cmpd="sng" algn="ctr">
                      <a:noFill/>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4"/>
                    </a:solidFill>
                  </a:tcPr>
                </a:tc>
                <a:tc>
                  <a:txBody>
                    <a:bodyPr/>
                    <a:lstStyle/>
                    <a:p>
                      <a:pPr marL="0" indent="0" algn="ctr">
                        <a:buNone/>
                      </a:pPr>
                      <a:r>
                        <a:rPr lang="en-US" sz="1300" dirty="0">
                          <a:solidFill>
                            <a:schemeClr val="tx1"/>
                          </a:solidFill>
                        </a:rPr>
                        <a:t>5</a:t>
                      </a:r>
                      <a:endParaRPr lang="en-US" sz="1300" dirty="0"/>
                    </a:p>
                  </a:txBody>
                  <a:tcPr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24</a:t>
                      </a:r>
                      <a:endParaRPr lang="en-US" sz="1300" dirty="0"/>
                    </a:p>
                  </a:txBody>
                  <a:tcPr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4.8</a:t>
                      </a:r>
                      <a:endParaRPr lang="en-US" sz="1300" dirty="0"/>
                    </a:p>
                  </a:txBody>
                  <a:tcPr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7" name="Text 14"/>
          <p:cNvSpPr txBox="1"/>
          <p:nvPr/>
        </p:nvSpPr>
        <p:spPr>
          <a:xfrm>
            <a:off x="6629400" y="1783080"/>
            <a:ext cx="1737360" cy="1097280"/>
          </a:xfrm>
          <a:prstGeom prst="rect">
            <a:avLst/>
          </a:prstGeom>
          <a:noFill/>
          <a:ln/>
        </p:spPr>
        <p:txBody>
          <a:bodyPr wrap="square" lIns="0" tIns="0" rIns="0" bIns="0" rtlCol="0" anchor="t"/>
          <a:lstStyle/>
          <a:p>
            <a:pPr marL="0" indent="0">
              <a:buNone/>
            </a:pPr>
            <a:r>
              <a:rPr lang="en-US" sz="1300" dirty="0">
                <a:solidFill>
                  <a:schemeClr val="tx1"/>
                </a:solidFill>
              </a:rPr>
              <a:t>Item 1 has the best ratio, so greedy takes it first and strands 4 kg.</a:t>
            </a:r>
            <a:endParaRPr lang="en-US" sz="1300" dirty="0"/>
          </a:p>
        </p:txBody>
      </p:sp>
      <p:sp>
        <p:nvSpPr>
          <p:cNvPr id="18" name="Text 15"/>
          <p:cNvSpPr txBox="1"/>
          <p:nvPr/>
        </p:nvSpPr>
        <p:spPr>
          <a:xfrm>
            <a:off x="3977640" y="3072384"/>
            <a:ext cx="4389120" cy="219456"/>
          </a:xfrm>
          <a:prstGeom prst="rect">
            <a:avLst/>
          </a:prstGeom>
          <a:noFill/>
          <a:ln/>
        </p:spPr>
        <p:txBody>
          <a:bodyPr wrap="square" lIns="0" tIns="0" rIns="0" bIns="0" rtlCol="0" anchor="ctr"/>
          <a:lstStyle/>
          <a:p>
            <a:pPr marL="0" indent="0">
              <a:buNone/>
            </a:pPr>
            <a:r>
              <a:rPr lang="en-US" sz="1200" b="1" dirty="0">
                <a:solidFill>
                  <a:schemeClr val="tx1"/>
                </a:solidFill>
              </a:rPr>
              <a:t>Greedy</a:t>
            </a:r>
            <a:r>
              <a:rPr lang="en-US" sz="1200" dirty="0">
                <a:solidFill>
                  <a:schemeClr val="tx2"/>
                </a:solidFill>
              </a:rPr>
              <a:t>  ·  profit 30, only 62.5% of the best</a:t>
            </a:r>
            <a:endParaRPr lang="en-US" sz="1200" dirty="0"/>
          </a:p>
        </p:txBody>
      </p:sp>
      <p:sp>
        <p:nvSpPr>
          <p:cNvPr id="19" name="Capacity outline"/>
          <p:cNvSpPr/>
          <p:nvPr/>
        </p:nvSpPr>
        <p:spPr>
          <a:xfrm>
            <a:off x="3977640" y="3319272"/>
            <a:ext cx="4389120" cy="347472"/>
          </a:xfrm>
          <a:prstGeom prst="rect">
            <a:avLst/>
          </a:prstGeom>
          <a:solidFill>
            <a:schemeClr val="bg1"/>
          </a:solidFill>
          <a:ln w="12700">
            <a:solidFill>
              <a:schemeClr val="accent3"/>
            </a:solidFill>
            <a:prstDash val="solid"/>
          </a:ln>
        </p:spPr>
      </p:sp>
      <p:sp>
        <p:nvSpPr>
          <p:cNvPr id="20" name="Unit divider 1"/>
          <p:cNvSpPr/>
          <p:nvPr/>
        </p:nvSpPr>
        <p:spPr>
          <a:xfrm>
            <a:off x="4416552" y="3319272"/>
            <a:ext cx="0" cy="347472"/>
          </a:xfrm>
          <a:prstGeom prst="line">
            <a:avLst/>
          </a:prstGeom>
          <a:noFill/>
          <a:ln w="9525">
            <a:solidFill>
              <a:schemeClr val="accent4"/>
            </a:solidFill>
            <a:prstDash val="solid"/>
          </a:ln>
        </p:spPr>
      </p:sp>
      <p:sp>
        <p:nvSpPr>
          <p:cNvPr id="21" name="Unit divider 2"/>
          <p:cNvSpPr/>
          <p:nvPr/>
        </p:nvSpPr>
        <p:spPr>
          <a:xfrm>
            <a:off x="4855464" y="3319272"/>
            <a:ext cx="0" cy="347472"/>
          </a:xfrm>
          <a:prstGeom prst="line">
            <a:avLst/>
          </a:prstGeom>
          <a:noFill/>
          <a:ln w="9525">
            <a:solidFill>
              <a:schemeClr val="accent4"/>
            </a:solidFill>
            <a:prstDash val="solid"/>
          </a:ln>
        </p:spPr>
      </p:sp>
      <p:sp>
        <p:nvSpPr>
          <p:cNvPr id="22" name="Unit divider 3"/>
          <p:cNvSpPr/>
          <p:nvPr/>
        </p:nvSpPr>
        <p:spPr>
          <a:xfrm>
            <a:off x="5294376" y="3319272"/>
            <a:ext cx="0" cy="347472"/>
          </a:xfrm>
          <a:prstGeom prst="line">
            <a:avLst/>
          </a:prstGeom>
          <a:noFill/>
          <a:ln w="9525">
            <a:solidFill>
              <a:schemeClr val="accent4"/>
            </a:solidFill>
            <a:prstDash val="solid"/>
          </a:ln>
        </p:spPr>
      </p:sp>
      <p:sp>
        <p:nvSpPr>
          <p:cNvPr id="23" name="Unit divider 4"/>
          <p:cNvSpPr/>
          <p:nvPr/>
        </p:nvSpPr>
        <p:spPr>
          <a:xfrm>
            <a:off x="5733288" y="3319272"/>
            <a:ext cx="0" cy="347472"/>
          </a:xfrm>
          <a:prstGeom prst="line">
            <a:avLst/>
          </a:prstGeom>
          <a:noFill/>
          <a:ln w="9525">
            <a:solidFill>
              <a:schemeClr val="accent4"/>
            </a:solidFill>
            <a:prstDash val="solid"/>
          </a:ln>
        </p:spPr>
      </p:sp>
      <p:sp>
        <p:nvSpPr>
          <p:cNvPr id="24" name="Unit divider 5"/>
          <p:cNvSpPr/>
          <p:nvPr/>
        </p:nvSpPr>
        <p:spPr>
          <a:xfrm>
            <a:off x="6172200" y="3319272"/>
            <a:ext cx="0" cy="347472"/>
          </a:xfrm>
          <a:prstGeom prst="line">
            <a:avLst/>
          </a:prstGeom>
          <a:noFill/>
          <a:ln w="9525">
            <a:solidFill>
              <a:schemeClr val="accent4"/>
            </a:solidFill>
            <a:prstDash val="solid"/>
          </a:ln>
        </p:spPr>
      </p:sp>
      <p:sp>
        <p:nvSpPr>
          <p:cNvPr id="25" name="Unit divider 6"/>
          <p:cNvSpPr/>
          <p:nvPr/>
        </p:nvSpPr>
        <p:spPr>
          <a:xfrm>
            <a:off x="6611112" y="3319272"/>
            <a:ext cx="0" cy="347472"/>
          </a:xfrm>
          <a:prstGeom prst="line">
            <a:avLst/>
          </a:prstGeom>
          <a:noFill/>
          <a:ln w="9525">
            <a:solidFill>
              <a:schemeClr val="accent4"/>
            </a:solidFill>
            <a:prstDash val="solid"/>
          </a:ln>
        </p:spPr>
      </p:sp>
      <p:sp>
        <p:nvSpPr>
          <p:cNvPr id="26" name="Unit divider 7"/>
          <p:cNvSpPr/>
          <p:nvPr/>
        </p:nvSpPr>
        <p:spPr>
          <a:xfrm>
            <a:off x="7050024" y="3319272"/>
            <a:ext cx="0" cy="347472"/>
          </a:xfrm>
          <a:prstGeom prst="line">
            <a:avLst/>
          </a:prstGeom>
          <a:noFill/>
          <a:ln w="9525">
            <a:solidFill>
              <a:schemeClr val="accent4"/>
            </a:solidFill>
            <a:prstDash val="solid"/>
          </a:ln>
        </p:spPr>
      </p:sp>
      <p:sp>
        <p:nvSpPr>
          <p:cNvPr id="27" name="Unit divider 8"/>
          <p:cNvSpPr/>
          <p:nvPr/>
        </p:nvSpPr>
        <p:spPr>
          <a:xfrm>
            <a:off x="7488936" y="3319272"/>
            <a:ext cx="0" cy="347472"/>
          </a:xfrm>
          <a:prstGeom prst="line">
            <a:avLst/>
          </a:prstGeom>
          <a:noFill/>
          <a:ln w="9525">
            <a:solidFill>
              <a:schemeClr val="accent4"/>
            </a:solidFill>
            <a:prstDash val="solid"/>
          </a:ln>
        </p:spPr>
      </p:sp>
      <p:sp>
        <p:nvSpPr>
          <p:cNvPr id="28" name="Unit divider 9"/>
          <p:cNvSpPr/>
          <p:nvPr/>
        </p:nvSpPr>
        <p:spPr>
          <a:xfrm>
            <a:off x="7927848" y="3319272"/>
            <a:ext cx="0" cy="347472"/>
          </a:xfrm>
          <a:prstGeom prst="line">
            <a:avLst/>
          </a:prstGeom>
          <a:noFill/>
          <a:ln w="9525">
            <a:solidFill>
              <a:schemeClr val="accent4"/>
            </a:solidFill>
            <a:prstDash val="solid"/>
          </a:ln>
        </p:spPr>
      </p:sp>
      <p:sp>
        <p:nvSpPr>
          <p:cNvPr id="29" name="Segment 0"/>
          <p:cNvSpPr txBox="1"/>
          <p:nvPr/>
        </p:nvSpPr>
        <p:spPr>
          <a:xfrm>
            <a:off x="3977640" y="3319272"/>
            <a:ext cx="2633472" cy="347472"/>
          </a:xfrm>
          <a:prstGeom prst="rect">
            <a:avLst/>
          </a:prstGeom>
          <a:solidFill>
            <a:schemeClr val="accent2"/>
          </a:solidFill>
          <a:ln w="19050">
            <a:solidFill>
              <a:schemeClr val="bg1"/>
            </a:solidFill>
          </a:ln>
        </p:spPr>
        <p:txBody>
          <a:bodyPr wrap="square" lIns="0" tIns="0" rIns="0" bIns="0" rtlCol="0" anchor="ctr"/>
          <a:lstStyle/>
          <a:p>
            <a:pPr marL="0" indent="0" algn="ctr">
              <a:buNone/>
            </a:pPr>
            <a:r>
              <a:rPr lang="en-US" sz="1200" b="1" dirty="0">
                <a:solidFill>
                  <a:schemeClr val="bg1"/>
                </a:solidFill>
              </a:rPr>
              <a:t>1 · 6 kg</a:t>
            </a:r>
            <a:endParaRPr lang="en-US" sz="1200" dirty="0"/>
          </a:p>
        </p:txBody>
      </p:sp>
      <p:sp>
        <p:nvSpPr>
          <p:cNvPr id="30" name="Unused capacity"/>
          <p:cNvSpPr txBox="1"/>
          <p:nvPr/>
        </p:nvSpPr>
        <p:spPr>
          <a:xfrm>
            <a:off x="6611112" y="3319272"/>
            <a:ext cx="1755648" cy="347472"/>
          </a:xfrm>
          <a:prstGeom prst="rect">
            <a:avLst/>
          </a:prstGeom>
          <a:solidFill>
            <a:schemeClr val="bg1"/>
          </a:solidFill>
          <a:ln w="15875">
            <a:solidFill>
              <a:schemeClr val="accent1"/>
            </a:solidFill>
            <a:prstDash val="dash"/>
          </a:ln>
        </p:spPr>
        <p:txBody>
          <a:bodyPr wrap="square" lIns="0" tIns="0" rIns="0" bIns="0" rtlCol="0" anchor="ctr"/>
          <a:lstStyle/>
          <a:p>
            <a:pPr marL="0" indent="0" algn="ctr">
              <a:buNone/>
            </a:pPr>
            <a:r>
              <a:rPr lang="en-US" sz="1100" b="1" dirty="0">
                <a:solidFill>
                  <a:schemeClr val="accent1"/>
                </a:solidFill>
              </a:rPr>
              <a:t>4 kg unused</a:t>
            </a:r>
            <a:endParaRPr lang="en-US" sz="1100" dirty="0"/>
          </a:p>
        </p:txBody>
      </p:sp>
      <p:sp>
        <p:nvSpPr>
          <p:cNvPr id="31" name="Text 28"/>
          <p:cNvSpPr txBox="1"/>
          <p:nvPr/>
        </p:nvSpPr>
        <p:spPr>
          <a:xfrm>
            <a:off x="3977640" y="3749040"/>
            <a:ext cx="4389120" cy="219456"/>
          </a:xfrm>
          <a:prstGeom prst="rect">
            <a:avLst/>
          </a:prstGeom>
          <a:noFill/>
          <a:ln/>
        </p:spPr>
        <p:txBody>
          <a:bodyPr wrap="square" lIns="0" tIns="0" rIns="0" bIns="0" rtlCol="0" anchor="ctr"/>
          <a:lstStyle/>
          <a:p>
            <a:pPr marL="0" indent="0">
              <a:buNone/>
            </a:pPr>
            <a:r>
              <a:rPr lang="en-US" sz="1200" b="1" dirty="0">
                <a:solidFill>
                  <a:schemeClr val="tx1"/>
                </a:solidFill>
              </a:rPr>
              <a:t>Optimal</a:t>
            </a:r>
            <a:r>
              <a:rPr lang="en-US" sz="1200" dirty="0">
                <a:solidFill>
                  <a:schemeClr val="tx2"/>
                </a:solidFill>
              </a:rPr>
              <a:t>  ·  profit 48 = 24 + 24</a:t>
            </a:r>
            <a:endParaRPr lang="en-US" sz="1200" dirty="0"/>
          </a:p>
        </p:txBody>
      </p:sp>
      <p:sp>
        <p:nvSpPr>
          <p:cNvPr id="32" name="Capacity outline"/>
          <p:cNvSpPr/>
          <p:nvPr/>
        </p:nvSpPr>
        <p:spPr>
          <a:xfrm>
            <a:off x="3977640" y="3995928"/>
            <a:ext cx="4389120" cy="347472"/>
          </a:xfrm>
          <a:prstGeom prst="rect">
            <a:avLst/>
          </a:prstGeom>
          <a:solidFill>
            <a:schemeClr val="bg1"/>
          </a:solidFill>
          <a:ln w="12700">
            <a:solidFill>
              <a:schemeClr val="accent3"/>
            </a:solidFill>
            <a:prstDash val="solid"/>
          </a:ln>
        </p:spPr>
      </p:sp>
      <p:sp>
        <p:nvSpPr>
          <p:cNvPr id="33" name="Unit divider 1"/>
          <p:cNvSpPr/>
          <p:nvPr/>
        </p:nvSpPr>
        <p:spPr>
          <a:xfrm>
            <a:off x="4416552" y="3995928"/>
            <a:ext cx="0" cy="347472"/>
          </a:xfrm>
          <a:prstGeom prst="line">
            <a:avLst/>
          </a:prstGeom>
          <a:noFill/>
          <a:ln w="9525">
            <a:solidFill>
              <a:schemeClr val="accent4"/>
            </a:solidFill>
            <a:prstDash val="solid"/>
          </a:ln>
        </p:spPr>
      </p:sp>
      <p:sp>
        <p:nvSpPr>
          <p:cNvPr id="34" name="Unit divider 2"/>
          <p:cNvSpPr/>
          <p:nvPr/>
        </p:nvSpPr>
        <p:spPr>
          <a:xfrm>
            <a:off x="4855464" y="3995928"/>
            <a:ext cx="0" cy="347472"/>
          </a:xfrm>
          <a:prstGeom prst="line">
            <a:avLst/>
          </a:prstGeom>
          <a:noFill/>
          <a:ln w="9525">
            <a:solidFill>
              <a:schemeClr val="accent4"/>
            </a:solidFill>
            <a:prstDash val="solid"/>
          </a:ln>
        </p:spPr>
      </p:sp>
      <p:sp>
        <p:nvSpPr>
          <p:cNvPr id="35" name="Unit divider 3"/>
          <p:cNvSpPr/>
          <p:nvPr/>
        </p:nvSpPr>
        <p:spPr>
          <a:xfrm>
            <a:off x="5294376" y="3995928"/>
            <a:ext cx="0" cy="347472"/>
          </a:xfrm>
          <a:prstGeom prst="line">
            <a:avLst/>
          </a:prstGeom>
          <a:noFill/>
          <a:ln w="9525">
            <a:solidFill>
              <a:schemeClr val="accent4"/>
            </a:solidFill>
            <a:prstDash val="solid"/>
          </a:ln>
        </p:spPr>
      </p:sp>
      <p:sp>
        <p:nvSpPr>
          <p:cNvPr id="36" name="Unit divider 4"/>
          <p:cNvSpPr/>
          <p:nvPr/>
        </p:nvSpPr>
        <p:spPr>
          <a:xfrm>
            <a:off x="5733288" y="3995928"/>
            <a:ext cx="0" cy="347472"/>
          </a:xfrm>
          <a:prstGeom prst="line">
            <a:avLst/>
          </a:prstGeom>
          <a:noFill/>
          <a:ln w="9525">
            <a:solidFill>
              <a:schemeClr val="accent4"/>
            </a:solidFill>
            <a:prstDash val="solid"/>
          </a:ln>
        </p:spPr>
      </p:sp>
      <p:sp>
        <p:nvSpPr>
          <p:cNvPr id="37" name="Unit divider 5"/>
          <p:cNvSpPr/>
          <p:nvPr/>
        </p:nvSpPr>
        <p:spPr>
          <a:xfrm>
            <a:off x="6172200" y="3995928"/>
            <a:ext cx="0" cy="347472"/>
          </a:xfrm>
          <a:prstGeom prst="line">
            <a:avLst/>
          </a:prstGeom>
          <a:noFill/>
          <a:ln w="9525">
            <a:solidFill>
              <a:schemeClr val="accent4"/>
            </a:solidFill>
            <a:prstDash val="solid"/>
          </a:ln>
        </p:spPr>
      </p:sp>
      <p:sp>
        <p:nvSpPr>
          <p:cNvPr id="38" name="Unit divider 6"/>
          <p:cNvSpPr/>
          <p:nvPr/>
        </p:nvSpPr>
        <p:spPr>
          <a:xfrm>
            <a:off x="6611112" y="3995928"/>
            <a:ext cx="0" cy="347472"/>
          </a:xfrm>
          <a:prstGeom prst="line">
            <a:avLst/>
          </a:prstGeom>
          <a:noFill/>
          <a:ln w="9525">
            <a:solidFill>
              <a:schemeClr val="accent4"/>
            </a:solidFill>
            <a:prstDash val="solid"/>
          </a:ln>
        </p:spPr>
      </p:sp>
      <p:sp>
        <p:nvSpPr>
          <p:cNvPr id="39" name="Unit divider 7"/>
          <p:cNvSpPr/>
          <p:nvPr/>
        </p:nvSpPr>
        <p:spPr>
          <a:xfrm>
            <a:off x="7050024" y="3995928"/>
            <a:ext cx="0" cy="347472"/>
          </a:xfrm>
          <a:prstGeom prst="line">
            <a:avLst/>
          </a:prstGeom>
          <a:noFill/>
          <a:ln w="9525">
            <a:solidFill>
              <a:schemeClr val="accent4"/>
            </a:solidFill>
            <a:prstDash val="solid"/>
          </a:ln>
        </p:spPr>
      </p:sp>
      <p:sp>
        <p:nvSpPr>
          <p:cNvPr id="40" name="Unit divider 8"/>
          <p:cNvSpPr/>
          <p:nvPr/>
        </p:nvSpPr>
        <p:spPr>
          <a:xfrm>
            <a:off x="7488936" y="3995928"/>
            <a:ext cx="0" cy="347472"/>
          </a:xfrm>
          <a:prstGeom prst="line">
            <a:avLst/>
          </a:prstGeom>
          <a:noFill/>
          <a:ln w="9525">
            <a:solidFill>
              <a:schemeClr val="accent4"/>
            </a:solidFill>
            <a:prstDash val="solid"/>
          </a:ln>
        </p:spPr>
      </p:sp>
      <p:sp>
        <p:nvSpPr>
          <p:cNvPr id="41" name="Unit divider 9"/>
          <p:cNvSpPr/>
          <p:nvPr/>
        </p:nvSpPr>
        <p:spPr>
          <a:xfrm>
            <a:off x="7927848" y="3995928"/>
            <a:ext cx="0" cy="347472"/>
          </a:xfrm>
          <a:prstGeom prst="line">
            <a:avLst/>
          </a:prstGeom>
          <a:noFill/>
          <a:ln w="9525">
            <a:solidFill>
              <a:schemeClr val="accent4"/>
            </a:solidFill>
            <a:prstDash val="solid"/>
          </a:ln>
        </p:spPr>
      </p:sp>
      <p:sp>
        <p:nvSpPr>
          <p:cNvPr id="42" name="Segment 0"/>
          <p:cNvSpPr txBox="1"/>
          <p:nvPr/>
        </p:nvSpPr>
        <p:spPr>
          <a:xfrm>
            <a:off x="3977640" y="3995928"/>
            <a:ext cx="2194560" cy="347472"/>
          </a:xfrm>
          <a:prstGeom prst="rect">
            <a:avLst/>
          </a:prstGeom>
          <a:solidFill>
            <a:schemeClr val="accent3"/>
          </a:solidFill>
          <a:ln w="19050">
            <a:solidFill>
              <a:schemeClr val="bg1"/>
            </a:solidFill>
          </a:ln>
        </p:spPr>
        <p:txBody>
          <a:bodyPr wrap="square" lIns="0" tIns="0" rIns="0" bIns="0" rtlCol="0" anchor="ctr"/>
          <a:lstStyle/>
          <a:p>
            <a:pPr marL="0" indent="0" algn="ctr">
              <a:buNone/>
            </a:pPr>
            <a:r>
              <a:rPr lang="en-US" sz="1200" b="1" dirty="0">
                <a:solidFill>
                  <a:schemeClr val="bg1"/>
                </a:solidFill>
              </a:rPr>
              <a:t>2 · 5 kg</a:t>
            </a:r>
            <a:endParaRPr lang="en-US" sz="1200" dirty="0"/>
          </a:p>
        </p:txBody>
      </p:sp>
      <p:sp>
        <p:nvSpPr>
          <p:cNvPr id="43" name="Segment 1"/>
          <p:cNvSpPr txBox="1"/>
          <p:nvPr/>
        </p:nvSpPr>
        <p:spPr>
          <a:xfrm>
            <a:off x="6172200" y="3995928"/>
            <a:ext cx="2194560" cy="347472"/>
          </a:xfrm>
          <a:prstGeom prst="rect">
            <a:avLst/>
          </a:prstGeom>
          <a:solidFill>
            <a:schemeClr val="accent4"/>
          </a:solidFill>
          <a:ln w="19050">
            <a:solidFill>
              <a:schemeClr val="bg1"/>
            </a:solidFill>
          </a:ln>
        </p:spPr>
        <p:txBody>
          <a:bodyPr wrap="square" lIns="0" tIns="0" rIns="0" bIns="0" rtlCol="0" anchor="ctr"/>
          <a:lstStyle/>
          <a:p>
            <a:pPr marL="0" indent="0" algn="ctr">
              <a:buNone/>
            </a:pPr>
            <a:r>
              <a:rPr lang="en-US" sz="1200" b="1" dirty="0">
                <a:solidFill>
                  <a:schemeClr val="tx1"/>
                </a:solidFill>
              </a:rPr>
              <a:t>3 · 5 kg</a:t>
            </a:r>
            <a:endParaRPr lang="en-US" sz="1200" dirty="0"/>
          </a:p>
        </p:txBody>
      </p:sp>
      <p:sp>
        <p:nvSpPr>
          <p:cNvPr id="44"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046720" cy="237744"/>
          </a:xfrm>
          <a:prstGeom prst="rect">
            <a:avLst/>
          </a:prstGeom>
          <a:noFill/>
          <a:ln/>
        </p:spPr>
        <p:txBody>
          <a:bodyPr wrap="square" lIns="0" tIns="0" rIns="0" bIns="0" rtlCol="0" anchor="ctr"/>
          <a:lstStyle/>
          <a:p>
            <a:pPr marL="0" indent="0" algn="l">
              <a:buNone/>
            </a:pPr>
            <a:r>
              <a:rPr lang="en-US" sz="1100" b="1" kern="0" spc="300" dirty="0">
                <a:solidFill>
                  <a:schemeClr val="accent1"/>
                </a:solidFill>
              </a:rPr>
              <a:t>06  ·  DYNAMIC PROGRAMMING</a:t>
            </a:r>
            <a:endParaRPr lang="en-US" sz="1100" dirty="0"/>
          </a:p>
        </p:txBody>
      </p:sp>
      <p:sp>
        <p:nvSpPr>
          <p:cNvPr id="3" name="Text 0"/>
          <p:cNvSpPr>
            <a:spLocks noGrp="1"/>
          </p:cNvSpPr>
          <p:nvPr>
            <p:ph type="title" idx="101" hasCustomPrompt="1"/>
          </p:nvPr>
        </p:nvSpPr>
        <p:spPr>
          <a:xfrm>
            <a:off x="548640" y="603504"/>
            <a:ext cx="8046720" cy="566928"/>
          </a:xfrm>
          <a:prstGeom prst="rect">
            <a:avLst/>
          </a:prstGeom>
          <a:noFill/>
          <a:ln/>
        </p:spPr>
        <p:txBody>
          <a:bodyPr wrap="square" lIns="0" tIns="0" rIns="0" bIns="0" rtlCol="0" anchor="ctr"/>
          <a:lstStyle/>
          <a:p>
            <a:pPr marL="0" indent="0" algn="l">
              <a:buNone/>
            </a:pPr>
            <a:r>
              <a:rPr lang="en-US" sz="3200" b="1" dirty="0">
                <a:solidFill>
                  <a:schemeClr val="tx1"/>
                </a:solidFill>
              </a:rPr>
              <a:t>The DP state and recurrence</a:t>
            </a:r>
            <a:endParaRPr lang="en-US" sz="3200" dirty="0"/>
          </a:p>
        </p:txBody>
      </p:sp>
      <p:sp>
        <p:nvSpPr>
          <p:cNvPr id="4" name="Recurrence panel"/>
          <p:cNvSpPr/>
          <p:nvPr/>
        </p:nvSpPr>
        <p:spPr>
          <a:xfrm>
            <a:off x="548640" y="1325880"/>
            <a:ext cx="8046720" cy="1188720"/>
          </a:xfrm>
          <a:prstGeom prst="rect">
            <a:avLst/>
          </a:prstGeom>
          <a:solidFill>
            <a:schemeClr val="bg2"/>
          </a:solidFill>
          <a:ln/>
        </p:spPr>
      </p:sp>
      <p:sp>
        <p:nvSpPr>
          <p:cNvPr id="5" name="Text 3"/>
          <p:cNvSpPr txBox="1"/>
          <p:nvPr/>
        </p:nvSpPr>
        <p:spPr>
          <a:xfrm>
            <a:off x="822960" y="1481328"/>
            <a:ext cx="5852160" cy="411480"/>
          </a:xfrm>
          <a:prstGeom prst="rect">
            <a:avLst/>
          </a:prstGeom>
          <a:noFill/>
          <a:ln/>
        </p:spPr>
        <p:txBody>
          <a:bodyPr wrap="square" lIns="0" tIns="0" rIns="0" bIns="0" rtlCol="0" anchor="ctr"/>
          <a:lstStyle/>
          <a:p>
            <a:pPr marL="0" indent="0">
              <a:buNone/>
            </a:pPr>
            <a:r>
              <a:rPr lang="en-US" sz="1700" dirty="0">
                <a:solidFill>
                  <a:schemeClr val="tx1"/>
                </a:solidFill>
                <a:latin typeface="+mj-lt" pitchFamily="34" charset="0"/>
                <a:ea typeface="+mj-lt" pitchFamily="34" charset="-122"/>
                <a:cs typeface="+mj-lt" pitchFamily="34" charset="-120"/>
              </a:rPr>
              <a:t>DP[i][w]  =  DP[i−1][w]</a:t>
            </a:r>
            <a:endParaRPr lang="en-US" sz="1700" dirty="0"/>
          </a:p>
        </p:txBody>
      </p:sp>
      <p:sp>
        <p:nvSpPr>
          <p:cNvPr id="6" name="Text 4"/>
          <p:cNvSpPr txBox="1"/>
          <p:nvPr/>
        </p:nvSpPr>
        <p:spPr>
          <a:xfrm>
            <a:off x="6858000" y="1481328"/>
            <a:ext cx="1645920" cy="411480"/>
          </a:xfrm>
          <a:prstGeom prst="rect">
            <a:avLst/>
          </a:prstGeom>
          <a:noFill/>
          <a:ln/>
        </p:spPr>
        <p:txBody>
          <a:bodyPr wrap="square" lIns="0" tIns="0" rIns="0" bIns="0" rtlCol="0" anchor="ctr"/>
          <a:lstStyle/>
          <a:p>
            <a:pPr marL="0" indent="0">
              <a:buNone/>
            </a:pPr>
            <a:r>
              <a:rPr lang="en-US" sz="1400" i="1" dirty="0">
                <a:solidFill>
                  <a:schemeClr val="tx2"/>
                </a:solidFill>
                <a:latin typeface="+mj-lt" pitchFamily="34" charset="0"/>
                <a:ea typeface="+mj-lt" pitchFamily="34" charset="-122"/>
                <a:cs typeface="+mj-lt" pitchFamily="34" charset="-120"/>
              </a:rPr>
              <a:t>if  w</a:t>
            </a:r>
            <a:r>
              <a:rPr lang="en-US" sz="1400" i="1" baseline="-40000" dirty="0">
                <a:solidFill>
                  <a:schemeClr val="tx2"/>
                </a:solidFill>
                <a:latin typeface="+mj-lt" pitchFamily="34" charset="0"/>
                <a:ea typeface="+mj-lt" pitchFamily="34" charset="-122"/>
                <a:cs typeface="+mj-lt" pitchFamily="34" charset="-120"/>
              </a:rPr>
              <a:t>i</a:t>
            </a:r>
            <a:r>
              <a:rPr lang="en-US" sz="1400" i="1" dirty="0">
                <a:solidFill>
                  <a:schemeClr val="tx2"/>
                </a:solidFill>
                <a:latin typeface="+mj-lt" pitchFamily="34" charset="0"/>
                <a:ea typeface="+mj-lt" pitchFamily="34" charset="-122"/>
                <a:cs typeface="+mj-lt" pitchFamily="34" charset="-120"/>
              </a:rPr>
              <a:t> &gt; w</a:t>
            </a:r>
            <a:endParaRPr lang="en-US" sz="1400" dirty="0"/>
          </a:p>
        </p:txBody>
      </p:sp>
      <p:sp>
        <p:nvSpPr>
          <p:cNvPr id="7" name="Text 5"/>
          <p:cNvSpPr txBox="1"/>
          <p:nvPr/>
        </p:nvSpPr>
        <p:spPr>
          <a:xfrm>
            <a:off x="822960" y="1956816"/>
            <a:ext cx="5943600" cy="411480"/>
          </a:xfrm>
          <a:prstGeom prst="rect">
            <a:avLst/>
          </a:prstGeom>
          <a:noFill/>
          <a:ln/>
        </p:spPr>
        <p:txBody>
          <a:bodyPr wrap="square" lIns="0" tIns="0" rIns="0" bIns="0" rtlCol="0" anchor="ctr"/>
          <a:lstStyle/>
          <a:p>
            <a:pPr marL="0" indent="0">
              <a:buNone/>
            </a:pPr>
            <a:r>
              <a:rPr lang="en-US" sz="1700" dirty="0">
                <a:solidFill>
                  <a:schemeClr val="tx1"/>
                </a:solidFill>
                <a:latin typeface="+mj-lt" pitchFamily="34" charset="0"/>
                <a:ea typeface="+mj-lt" pitchFamily="34" charset="-122"/>
                <a:cs typeface="+mj-lt" pitchFamily="34" charset="-120"/>
              </a:rPr>
              <a:t>DP[i][w]  =  max( DP[i−1][w],  p</a:t>
            </a:r>
            <a:r>
              <a:rPr lang="en-US" sz="1700" baseline="-40000" dirty="0">
                <a:solidFill>
                  <a:schemeClr val="tx1"/>
                </a:solidFill>
                <a:latin typeface="+mj-lt" pitchFamily="34" charset="0"/>
                <a:ea typeface="+mj-lt" pitchFamily="34" charset="-122"/>
                <a:cs typeface="+mj-lt" pitchFamily="34" charset="-120"/>
              </a:rPr>
              <a:t>i</a:t>
            </a:r>
            <a:r>
              <a:rPr lang="en-US" sz="1700" dirty="0">
                <a:solidFill>
                  <a:schemeClr val="tx1"/>
                </a:solidFill>
                <a:latin typeface="+mj-lt" pitchFamily="34" charset="0"/>
                <a:ea typeface="+mj-lt" pitchFamily="34" charset="-122"/>
                <a:cs typeface="+mj-lt" pitchFamily="34" charset="-120"/>
              </a:rPr>
              <a:t> + DP[i−1][w − w</a:t>
            </a:r>
            <a:r>
              <a:rPr lang="en-US" sz="1700" baseline="-40000" dirty="0">
                <a:solidFill>
                  <a:schemeClr val="tx1"/>
                </a:solidFill>
                <a:latin typeface="+mj-lt" pitchFamily="34" charset="0"/>
                <a:ea typeface="+mj-lt" pitchFamily="34" charset="-122"/>
                <a:cs typeface="+mj-lt" pitchFamily="34" charset="-120"/>
              </a:rPr>
              <a:t>i</a:t>
            </a:r>
            <a:r>
              <a:rPr lang="en-US" sz="1700" dirty="0">
                <a:solidFill>
                  <a:schemeClr val="tx1"/>
                </a:solidFill>
                <a:latin typeface="+mj-lt" pitchFamily="34" charset="0"/>
                <a:ea typeface="+mj-lt" pitchFamily="34" charset="-122"/>
                <a:cs typeface="+mj-lt" pitchFamily="34" charset="-120"/>
              </a:rPr>
              <a:t>] )</a:t>
            </a:r>
            <a:endParaRPr lang="en-US" sz="1700" dirty="0"/>
          </a:p>
        </p:txBody>
      </p:sp>
      <p:sp>
        <p:nvSpPr>
          <p:cNvPr id="8" name="Text 6"/>
          <p:cNvSpPr txBox="1"/>
          <p:nvPr/>
        </p:nvSpPr>
        <p:spPr>
          <a:xfrm>
            <a:off x="6858000" y="1956816"/>
            <a:ext cx="1645920" cy="411480"/>
          </a:xfrm>
          <a:prstGeom prst="rect">
            <a:avLst/>
          </a:prstGeom>
          <a:noFill/>
          <a:ln/>
        </p:spPr>
        <p:txBody>
          <a:bodyPr wrap="square" lIns="0" tIns="0" rIns="0" bIns="0" rtlCol="0" anchor="ctr"/>
          <a:lstStyle/>
          <a:p>
            <a:pPr marL="0" indent="0">
              <a:buNone/>
            </a:pPr>
            <a:r>
              <a:rPr lang="en-US" sz="1400" i="1" dirty="0">
                <a:solidFill>
                  <a:schemeClr val="tx2"/>
                </a:solidFill>
                <a:latin typeface="+mj-lt" pitchFamily="34" charset="0"/>
                <a:ea typeface="+mj-lt" pitchFamily="34" charset="-122"/>
                <a:cs typeface="+mj-lt" pitchFamily="34" charset="-120"/>
              </a:rPr>
              <a:t>if  w</a:t>
            </a:r>
            <a:r>
              <a:rPr lang="en-US" sz="1400" i="1" baseline="-40000" dirty="0">
                <a:solidFill>
                  <a:schemeClr val="tx2"/>
                </a:solidFill>
                <a:latin typeface="+mj-lt" pitchFamily="34" charset="0"/>
                <a:ea typeface="+mj-lt" pitchFamily="34" charset="-122"/>
                <a:cs typeface="+mj-lt" pitchFamily="34" charset="-120"/>
              </a:rPr>
              <a:t>i</a:t>
            </a:r>
            <a:r>
              <a:rPr lang="en-US" sz="1400" i="1" dirty="0">
                <a:solidFill>
                  <a:schemeClr val="tx2"/>
                </a:solidFill>
                <a:latin typeface="+mj-lt" pitchFamily="34" charset="0"/>
                <a:ea typeface="+mj-lt" pitchFamily="34" charset="-122"/>
                <a:cs typeface="+mj-lt" pitchFamily="34" charset="-120"/>
              </a:rPr>
              <a:t> ≤ w</a:t>
            </a:r>
            <a:endParaRPr lang="en-US" sz="1400" dirty="0"/>
          </a:p>
        </p:txBody>
      </p:sp>
      <p:sp>
        <p:nvSpPr>
          <p:cNvPr id="9" name="Text 7"/>
          <p:cNvSpPr txBox="1"/>
          <p:nvPr/>
        </p:nvSpPr>
        <p:spPr>
          <a:xfrm>
            <a:off x="548640" y="2743200"/>
            <a:ext cx="822960" cy="402336"/>
          </a:xfrm>
          <a:prstGeom prst="rect">
            <a:avLst/>
          </a:prstGeom>
          <a:noFill/>
          <a:ln/>
        </p:spPr>
        <p:txBody>
          <a:bodyPr wrap="square" lIns="0" tIns="0" rIns="0" bIns="0" rtlCol="0" anchor="ctr"/>
          <a:lstStyle/>
          <a:p>
            <a:pPr marL="0" indent="0">
              <a:buNone/>
            </a:pPr>
            <a:r>
              <a:rPr lang="en-US" sz="1100" b="1" kern="0" spc="300" dirty="0">
                <a:solidFill>
                  <a:schemeClr val="accent1"/>
                </a:solidFill>
              </a:rPr>
              <a:t>STATE</a:t>
            </a:r>
            <a:endParaRPr lang="en-US" sz="1100" dirty="0"/>
          </a:p>
        </p:txBody>
      </p:sp>
      <p:sp>
        <p:nvSpPr>
          <p:cNvPr id="10" name="Text 8"/>
          <p:cNvSpPr txBox="1"/>
          <p:nvPr/>
        </p:nvSpPr>
        <p:spPr>
          <a:xfrm>
            <a:off x="1417320" y="2743200"/>
            <a:ext cx="3246120" cy="402336"/>
          </a:xfrm>
          <a:prstGeom prst="rect">
            <a:avLst/>
          </a:prstGeom>
          <a:noFill/>
          <a:ln/>
        </p:spPr>
        <p:txBody>
          <a:bodyPr wrap="square" lIns="0" tIns="0" rIns="0" bIns="0" rtlCol="0" anchor="ctr"/>
          <a:lstStyle/>
          <a:p>
            <a:pPr marL="0" indent="0">
              <a:buNone/>
            </a:pPr>
            <a:r>
              <a:rPr lang="en-US" sz="1300" dirty="0">
                <a:solidFill>
                  <a:schemeClr val="tx1"/>
                </a:solidFill>
              </a:rPr>
              <a:t>DP[i][w] = best profit using only the first i items with capacity w</a:t>
            </a:r>
            <a:endParaRPr lang="en-US" sz="1300" dirty="0"/>
          </a:p>
        </p:txBody>
      </p:sp>
      <p:sp>
        <p:nvSpPr>
          <p:cNvPr id="11" name="Text 9"/>
          <p:cNvSpPr txBox="1"/>
          <p:nvPr/>
        </p:nvSpPr>
        <p:spPr>
          <a:xfrm>
            <a:off x="548640" y="3218688"/>
            <a:ext cx="822960" cy="402336"/>
          </a:xfrm>
          <a:prstGeom prst="rect">
            <a:avLst/>
          </a:prstGeom>
          <a:noFill/>
          <a:ln/>
        </p:spPr>
        <p:txBody>
          <a:bodyPr wrap="square" lIns="0" tIns="0" rIns="0" bIns="0" rtlCol="0" anchor="ctr"/>
          <a:lstStyle/>
          <a:p>
            <a:pPr marL="0" indent="0">
              <a:buNone/>
            </a:pPr>
            <a:r>
              <a:rPr lang="en-US" sz="1100" b="1" kern="0" spc="300" dirty="0">
                <a:solidFill>
                  <a:schemeClr val="accent1"/>
                </a:solidFill>
              </a:rPr>
              <a:t>BASE</a:t>
            </a:r>
            <a:endParaRPr lang="en-US" sz="1100" dirty="0"/>
          </a:p>
        </p:txBody>
      </p:sp>
      <p:sp>
        <p:nvSpPr>
          <p:cNvPr id="12" name="Text 10"/>
          <p:cNvSpPr txBox="1"/>
          <p:nvPr/>
        </p:nvSpPr>
        <p:spPr>
          <a:xfrm>
            <a:off x="1417320" y="3218688"/>
            <a:ext cx="3246120" cy="402336"/>
          </a:xfrm>
          <a:prstGeom prst="rect">
            <a:avLst/>
          </a:prstGeom>
          <a:noFill/>
          <a:ln/>
        </p:spPr>
        <p:txBody>
          <a:bodyPr wrap="square" lIns="0" tIns="0" rIns="0" bIns="0" rtlCol="0" anchor="ctr"/>
          <a:lstStyle/>
          <a:p>
            <a:pPr marL="0" indent="0">
              <a:buNone/>
            </a:pPr>
            <a:r>
              <a:rPr lang="en-US" sz="1300" dirty="0">
                <a:solidFill>
                  <a:schemeClr val="tx1"/>
                </a:solidFill>
              </a:rPr>
              <a:t>DP[0][w] = 0 for every w</a:t>
            </a:r>
            <a:endParaRPr lang="en-US" sz="1300" dirty="0"/>
          </a:p>
        </p:txBody>
      </p:sp>
      <p:sp>
        <p:nvSpPr>
          <p:cNvPr id="13" name="Text 11"/>
          <p:cNvSpPr txBox="1"/>
          <p:nvPr/>
        </p:nvSpPr>
        <p:spPr>
          <a:xfrm>
            <a:off x="548640" y="3694176"/>
            <a:ext cx="822960" cy="402336"/>
          </a:xfrm>
          <a:prstGeom prst="rect">
            <a:avLst/>
          </a:prstGeom>
          <a:noFill/>
          <a:ln/>
        </p:spPr>
        <p:txBody>
          <a:bodyPr wrap="square" lIns="0" tIns="0" rIns="0" bIns="0" rtlCol="0" anchor="ctr"/>
          <a:lstStyle/>
          <a:p>
            <a:pPr marL="0" indent="0">
              <a:buNone/>
            </a:pPr>
            <a:r>
              <a:rPr lang="en-US" sz="1100" b="1" kern="0" spc="300" dirty="0">
                <a:solidFill>
                  <a:schemeClr val="accent1"/>
                </a:solidFill>
              </a:rPr>
              <a:t>ANSWER</a:t>
            </a:r>
            <a:endParaRPr lang="en-US" sz="1100" dirty="0"/>
          </a:p>
        </p:txBody>
      </p:sp>
      <p:sp>
        <p:nvSpPr>
          <p:cNvPr id="14" name="Text 12"/>
          <p:cNvSpPr txBox="1"/>
          <p:nvPr/>
        </p:nvSpPr>
        <p:spPr>
          <a:xfrm>
            <a:off x="1417320" y="3694176"/>
            <a:ext cx="3246120" cy="402336"/>
          </a:xfrm>
          <a:prstGeom prst="rect">
            <a:avLst/>
          </a:prstGeom>
          <a:noFill/>
          <a:ln/>
        </p:spPr>
        <p:txBody>
          <a:bodyPr wrap="square" lIns="0" tIns="0" rIns="0" bIns="0" rtlCol="0" anchor="ctr"/>
          <a:lstStyle/>
          <a:p>
            <a:pPr marL="0" indent="0">
              <a:buNone/>
            </a:pPr>
            <a:r>
              <a:rPr lang="en-US" sz="1300" dirty="0">
                <a:solidFill>
                  <a:schemeClr val="tx1"/>
                </a:solidFill>
              </a:rPr>
              <a:t>DP[n][W]</a:t>
            </a:r>
            <a:endParaRPr lang="en-US" sz="1300" dirty="0"/>
          </a:p>
        </p:txBody>
      </p:sp>
      <p:sp>
        <p:nvSpPr>
          <p:cNvPr id="15" name="Text 13"/>
          <p:cNvSpPr txBox="1"/>
          <p:nvPr/>
        </p:nvSpPr>
        <p:spPr>
          <a:xfrm>
            <a:off x="548640" y="4206240"/>
            <a:ext cx="4114800" cy="365760"/>
          </a:xfrm>
          <a:prstGeom prst="rect">
            <a:avLst/>
          </a:prstGeom>
          <a:noFill/>
          <a:ln/>
        </p:spPr>
        <p:txBody>
          <a:bodyPr wrap="square" lIns="0" tIns="0" rIns="0" bIns="0" rtlCol="0" anchor="t"/>
          <a:lstStyle/>
          <a:p>
            <a:pPr marL="0" indent="0">
              <a:buNone/>
            </a:pPr>
            <a:r>
              <a:rPr lang="en-US" sz="1100" i="1" dirty="0">
                <a:solidFill>
                  <a:schemeClr val="tx2"/>
                </a:solidFill>
              </a:rPr>
              <a:t>Weights w</a:t>
            </a:r>
            <a:r>
              <a:rPr lang="en-US" sz="1100" i="1" baseline="-40000" dirty="0">
                <a:solidFill>
                  <a:schemeClr val="tx2"/>
                </a:solidFill>
              </a:rPr>
              <a:t>i</a:t>
            </a:r>
            <a:r>
              <a:rPr lang="en-US" sz="1100" i="1" dirty="0">
                <a:solidFill>
                  <a:schemeClr val="tx2"/>
                </a:solidFill>
              </a:rPr>
              <a:t> and capacity W are integers, so w − w</a:t>
            </a:r>
            <a:r>
              <a:rPr lang="en-US" sz="1100" i="1" baseline="-40000" dirty="0">
                <a:solidFill>
                  <a:schemeClr val="tx2"/>
                </a:solidFill>
              </a:rPr>
              <a:t>i</a:t>
            </a:r>
            <a:r>
              <a:rPr lang="en-US" sz="1100" i="1" dirty="0">
                <a:solidFill>
                  <a:schemeClr val="tx2"/>
                </a:solidFill>
              </a:rPr>
              <a:t> is always a valid column.</a:t>
            </a:r>
            <a:endParaRPr lang="en-US" sz="1100" dirty="0"/>
          </a:p>
        </p:txBody>
      </p:sp>
      <p:sp>
        <p:nvSpPr>
          <p:cNvPr id="16" name="DP cell [object Object],[object Object],[object Object]"/>
          <p:cNvSpPr txBox="1"/>
          <p:nvPr/>
        </p:nvSpPr>
        <p:spPr>
          <a:xfrm>
            <a:off x="5349240" y="2834640"/>
            <a:ext cx="1188720" cy="384048"/>
          </a:xfrm>
          <a:prstGeom prst="rect">
            <a:avLst/>
          </a:prstGeom>
          <a:solidFill>
            <a:schemeClr val="bg1"/>
          </a:solidFill>
          <a:ln w="12700">
            <a:solidFill>
              <a:schemeClr val="accent3"/>
            </a:solidFill>
          </a:ln>
        </p:spPr>
        <p:txBody>
          <a:bodyPr wrap="square" lIns="0" tIns="0" rIns="0" bIns="0" rtlCol="0" anchor="ctr"/>
          <a:lstStyle/>
          <a:p>
            <a:pPr marL="0" indent="0" algn="ctr">
              <a:buNone/>
            </a:pPr>
            <a:r>
              <a:rPr lang="en-US" sz="1100" b="1" dirty="0">
                <a:solidFill>
                  <a:schemeClr val="tx1"/>
                </a:solidFill>
                <a:latin typeface="+mj-lt" pitchFamily="34" charset="0"/>
                <a:ea typeface="+mj-lt" pitchFamily="34" charset="-122"/>
                <a:cs typeface="+mj-lt" pitchFamily="34" charset="-120"/>
              </a:rPr>
              <a:t>DP[i−1][w−w</a:t>
            </a:r>
            <a:r>
              <a:rPr lang="en-US" sz="1100" b="1" baseline="-40000" dirty="0">
                <a:solidFill>
                  <a:schemeClr val="tx1"/>
                </a:solidFill>
                <a:latin typeface="+mj-lt" pitchFamily="34" charset="0"/>
                <a:ea typeface="+mj-lt" pitchFamily="34" charset="-122"/>
                <a:cs typeface="+mj-lt" pitchFamily="34" charset="-120"/>
              </a:rPr>
              <a:t>i</a:t>
            </a:r>
            <a:r>
              <a:rPr lang="en-US" sz="1100" b="1" dirty="0">
                <a:solidFill>
                  <a:schemeClr val="tx1"/>
                </a:solidFill>
                <a:latin typeface="+mj-lt" pitchFamily="34" charset="0"/>
                <a:ea typeface="+mj-lt" pitchFamily="34" charset="-122"/>
                <a:cs typeface="+mj-lt" pitchFamily="34" charset="-120"/>
              </a:rPr>
              <a:t>]</a:t>
            </a:r>
            <a:endParaRPr lang="en-US" sz="1100" dirty="0"/>
          </a:p>
        </p:txBody>
      </p:sp>
      <p:sp>
        <p:nvSpPr>
          <p:cNvPr id="17" name="DP cell DP[i−1][w]"/>
          <p:cNvSpPr txBox="1"/>
          <p:nvPr/>
        </p:nvSpPr>
        <p:spPr>
          <a:xfrm>
            <a:off x="7360920" y="2834640"/>
            <a:ext cx="1188720" cy="384048"/>
          </a:xfrm>
          <a:prstGeom prst="rect">
            <a:avLst/>
          </a:prstGeom>
          <a:solidFill>
            <a:schemeClr val="bg1"/>
          </a:solidFill>
          <a:ln w="12700">
            <a:solidFill>
              <a:schemeClr val="accent3"/>
            </a:solidFill>
          </a:ln>
        </p:spPr>
        <p:txBody>
          <a:bodyPr wrap="square" lIns="0" tIns="0" rIns="0" bIns="0" rtlCol="0" anchor="ctr"/>
          <a:lstStyle/>
          <a:p>
            <a:pPr marL="0" indent="0" algn="ctr">
              <a:buNone/>
            </a:pPr>
            <a:r>
              <a:rPr lang="en-US" sz="1100" b="1" dirty="0">
                <a:solidFill>
                  <a:schemeClr val="tx1"/>
                </a:solidFill>
                <a:latin typeface="+mj-lt" pitchFamily="34" charset="0"/>
                <a:ea typeface="+mj-lt" pitchFamily="34" charset="-122"/>
                <a:cs typeface="+mj-lt" pitchFamily="34" charset="-120"/>
              </a:rPr>
              <a:t>DP[i−1][w]</a:t>
            </a:r>
            <a:endParaRPr lang="en-US" sz="1100" dirty="0"/>
          </a:p>
        </p:txBody>
      </p:sp>
      <p:sp>
        <p:nvSpPr>
          <p:cNvPr id="18" name="DP cell DP[i][w]"/>
          <p:cNvSpPr txBox="1"/>
          <p:nvPr/>
        </p:nvSpPr>
        <p:spPr>
          <a:xfrm>
            <a:off x="7360920" y="3886200"/>
            <a:ext cx="1188720" cy="384048"/>
          </a:xfrm>
          <a:prstGeom prst="rect">
            <a:avLst/>
          </a:prstGeom>
          <a:solidFill>
            <a:schemeClr val="accent1"/>
          </a:solidFill>
          <a:ln w="12700">
            <a:solidFill>
              <a:schemeClr val="accent1"/>
            </a:solidFill>
          </a:ln>
        </p:spPr>
        <p:txBody>
          <a:bodyPr wrap="square" lIns="0" tIns="0" rIns="0" bIns="0" rtlCol="0" anchor="ctr"/>
          <a:lstStyle/>
          <a:p>
            <a:pPr marL="0" indent="0" algn="ctr">
              <a:buNone/>
            </a:pPr>
            <a:r>
              <a:rPr lang="en-US" sz="1100" b="1" dirty="0">
                <a:solidFill>
                  <a:schemeClr val="bg1"/>
                </a:solidFill>
                <a:latin typeface="+mj-lt" pitchFamily="34" charset="0"/>
                <a:ea typeface="+mj-lt" pitchFamily="34" charset="-122"/>
                <a:cs typeface="+mj-lt" pitchFamily="34" charset="-120"/>
              </a:rPr>
              <a:t>DP[i][w]</a:t>
            </a:r>
            <a:endParaRPr lang="en-US" sz="1100" dirty="0"/>
          </a:p>
        </p:txBody>
      </p:sp>
      <p:sp>
        <p:nvSpPr>
          <p:cNvPr id="19" name="Skip arrow"/>
          <p:cNvSpPr/>
          <p:nvPr/>
        </p:nvSpPr>
        <p:spPr>
          <a:xfrm>
            <a:off x="7955280" y="3246120"/>
            <a:ext cx="0" cy="612648"/>
          </a:xfrm>
          <a:prstGeom prst="line">
            <a:avLst/>
          </a:prstGeom>
          <a:noFill/>
          <a:ln w="19050">
            <a:solidFill>
              <a:schemeClr val="tx1"/>
            </a:solidFill>
            <a:prstDash val="solid"/>
            <a:tailEnd type="triangle"/>
          </a:ln>
        </p:spPr>
      </p:sp>
      <p:sp>
        <p:nvSpPr>
          <p:cNvPr id="20" name="Take arrow"/>
          <p:cNvSpPr/>
          <p:nvPr/>
        </p:nvSpPr>
        <p:spPr>
          <a:xfrm>
            <a:off x="5943600" y="3246120"/>
            <a:ext cx="1389888" cy="832104"/>
          </a:xfrm>
          <a:prstGeom prst="line">
            <a:avLst/>
          </a:prstGeom>
          <a:noFill/>
          <a:ln w="19050">
            <a:solidFill>
              <a:schemeClr val="accent1"/>
            </a:solidFill>
            <a:prstDash val="solid"/>
            <a:tailEnd type="triangle"/>
          </a:ln>
        </p:spPr>
      </p:sp>
      <p:sp>
        <p:nvSpPr>
          <p:cNvPr id="21" name="Text 19"/>
          <p:cNvSpPr txBox="1"/>
          <p:nvPr/>
        </p:nvSpPr>
        <p:spPr>
          <a:xfrm>
            <a:off x="8028432" y="3383280"/>
            <a:ext cx="640080" cy="365760"/>
          </a:xfrm>
          <a:prstGeom prst="rect">
            <a:avLst/>
          </a:prstGeom>
          <a:noFill/>
          <a:ln/>
        </p:spPr>
        <p:txBody>
          <a:bodyPr wrap="square" lIns="0" tIns="0" rIns="0" bIns="0" rtlCol="0" anchor="ctr"/>
          <a:lstStyle/>
          <a:p>
            <a:pPr marL="0" indent="0">
              <a:buNone/>
            </a:pPr>
            <a:r>
              <a:rPr lang="en-US" sz="1000" dirty="0">
                <a:solidFill>
                  <a:schemeClr val="tx2"/>
                </a:solidFill>
              </a:rPr>
              <a:t>skip item i</a:t>
            </a:r>
            <a:endParaRPr lang="en-US" sz="1000" dirty="0"/>
          </a:p>
        </p:txBody>
      </p:sp>
      <p:sp>
        <p:nvSpPr>
          <p:cNvPr id="22" name="Text 20"/>
          <p:cNvSpPr txBox="1"/>
          <p:nvPr/>
        </p:nvSpPr>
        <p:spPr>
          <a:xfrm>
            <a:off x="5349240" y="3794760"/>
            <a:ext cx="1463040" cy="365760"/>
          </a:xfrm>
          <a:prstGeom prst="rect">
            <a:avLst/>
          </a:prstGeom>
          <a:noFill/>
          <a:ln/>
        </p:spPr>
        <p:txBody>
          <a:bodyPr wrap="square" lIns="0" tIns="0" rIns="0" bIns="0" rtlCol="0" anchor="ctr"/>
          <a:lstStyle/>
          <a:p>
            <a:pPr marL="0" indent="0">
              <a:buNone/>
            </a:pPr>
            <a:r>
              <a:rPr lang="en-US" sz="1100" b="1" dirty="0">
                <a:solidFill>
                  <a:schemeClr val="accent1"/>
                </a:solidFill>
              </a:rPr>
              <a:t>take item i, add p</a:t>
            </a:r>
            <a:r>
              <a:rPr lang="en-US" sz="1100" b="1" baseline="-40000" dirty="0">
                <a:solidFill>
                  <a:schemeClr val="accent1"/>
                </a:solidFill>
              </a:rPr>
              <a:t>i</a:t>
            </a:r>
            <a:endParaRPr lang="en-US" sz="1100" dirty="0"/>
          </a:p>
        </p:txBody>
      </p:sp>
      <p:sp>
        <p:nvSpPr>
          <p:cNvPr id="23" name="Text 21"/>
          <p:cNvSpPr txBox="1"/>
          <p:nvPr/>
        </p:nvSpPr>
        <p:spPr>
          <a:xfrm>
            <a:off x="4937760" y="4416552"/>
            <a:ext cx="3657600" cy="201168"/>
          </a:xfrm>
          <a:prstGeom prst="rect">
            <a:avLst/>
          </a:prstGeom>
          <a:noFill/>
          <a:ln/>
        </p:spPr>
        <p:txBody>
          <a:bodyPr wrap="square" lIns="0" tIns="0" rIns="0" bIns="0" rtlCol="0" anchor="t"/>
          <a:lstStyle/>
          <a:p>
            <a:pPr marL="0" indent="0" algn="r">
              <a:buNone/>
            </a:pPr>
            <a:r>
              <a:rPr lang="en-US" sz="1100" i="1" dirty="0">
                <a:solidFill>
                  <a:schemeClr val="tx2"/>
                </a:solidFill>
              </a:rPr>
              <a:t>Each cell is built from two cells in the row above.</a:t>
            </a:r>
            <a:endParaRPr lang="en-US" sz="11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046720" cy="237744"/>
          </a:xfrm>
          <a:prstGeom prst="rect">
            <a:avLst/>
          </a:prstGeom>
          <a:noFill/>
          <a:ln/>
        </p:spPr>
        <p:txBody>
          <a:bodyPr wrap="square" lIns="0" tIns="0" rIns="0" bIns="0" rtlCol="0" anchor="ctr"/>
          <a:lstStyle/>
          <a:p>
            <a:pPr marL="0" indent="0" algn="l">
              <a:buNone/>
            </a:pPr>
            <a:r>
              <a:rPr lang="en-US" sz="1100" b="1" kern="0" spc="300" dirty="0">
                <a:solidFill>
                  <a:schemeClr val="accent1"/>
                </a:solidFill>
              </a:rPr>
              <a:t>07  ·  WORKED EXAMPLE  ·  0/1 KNAPSACK, W = 10</a:t>
            </a:r>
            <a:endParaRPr lang="en-US" sz="1100" dirty="0"/>
          </a:p>
        </p:txBody>
      </p:sp>
      <p:sp>
        <p:nvSpPr>
          <p:cNvPr id="3" name="Text 0"/>
          <p:cNvSpPr>
            <a:spLocks noGrp="1"/>
          </p:cNvSpPr>
          <p:nvPr>
            <p:ph type="title" idx="101" hasCustomPrompt="1"/>
          </p:nvPr>
        </p:nvSpPr>
        <p:spPr>
          <a:xfrm>
            <a:off x="548640" y="603504"/>
            <a:ext cx="8046720" cy="566928"/>
          </a:xfrm>
          <a:prstGeom prst="rect">
            <a:avLst/>
          </a:prstGeom>
          <a:noFill/>
          <a:ln/>
        </p:spPr>
        <p:txBody>
          <a:bodyPr wrap="square" lIns="0" tIns="0" rIns="0" bIns="0" rtlCol="0" anchor="ctr"/>
          <a:lstStyle/>
          <a:p>
            <a:pPr marL="0" indent="0" algn="l">
              <a:buNone/>
            </a:pPr>
            <a:r>
              <a:rPr lang="en-US" sz="3200" b="1" dirty="0">
                <a:solidFill>
                  <a:schemeClr val="tx1"/>
                </a:solidFill>
              </a:rPr>
              <a:t>The full table, capacity 10</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043979" cy="1828800"/>
        </p:xfrm>
        <a:graphic>
          <a:graphicData uri="http://schemas.openxmlformats.org/drawingml/2006/table">
            <a:tbl>
              <a:tblPr/>
              <a:tblGrid>
                <a:gridCol w="1737360">
                  <a:extLst>
                    <a:ext uri="{9D8B030D-6E8A-4147-A177-3AD203B41FA5}">
                      <a16:colId xmlns:a16="http://schemas.microsoft.com/office/drawing/2014/main" val="20000"/>
                    </a:ext>
                  </a:extLst>
                </a:gridCol>
                <a:gridCol w="573329">
                  <a:extLst>
                    <a:ext uri="{9D8B030D-6E8A-4147-A177-3AD203B41FA5}">
                      <a16:colId xmlns:a16="http://schemas.microsoft.com/office/drawing/2014/main" val="20001"/>
                    </a:ext>
                  </a:extLst>
                </a:gridCol>
                <a:gridCol w="573329">
                  <a:extLst>
                    <a:ext uri="{9D8B030D-6E8A-4147-A177-3AD203B41FA5}">
                      <a16:colId xmlns:a16="http://schemas.microsoft.com/office/drawing/2014/main" val="20002"/>
                    </a:ext>
                  </a:extLst>
                </a:gridCol>
                <a:gridCol w="573329">
                  <a:extLst>
                    <a:ext uri="{9D8B030D-6E8A-4147-A177-3AD203B41FA5}">
                      <a16:colId xmlns:a16="http://schemas.microsoft.com/office/drawing/2014/main" val="20003"/>
                    </a:ext>
                  </a:extLst>
                </a:gridCol>
                <a:gridCol w="573329">
                  <a:extLst>
                    <a:ext uri="{9D8B030D-6E8A-4147-A177-3AD203B41FA5}">
                      <a16:colId xmlns:a16="http://schemas.microsoft.com/office/drawing/2014/main" val="20004"/>
                    </a:ext>
                  </a:extLst>
                </a:gridCol>
                <a:gridCol w="573329">
                  <a:extLst>
                    <a:ext uri="{9D8B030D-6E8A-4147-A177-3AD203B41FA5}">
                      <a16:colId xmlns:a16="http://schemas.microsoft.com/office/drawing/2014/main" val="20005"/>
                    </a:ext>
                  </a:extLst>
                </a:gridCol>
                <a:gridCol w="573329">
                  <a:extLst>
                    <a:ext uri="{9D8B030D-6E8A-4147-A177-3AD203B41FA5}">
                      <a16:colId xmlns:a16="http://schemas.microsoft.com/office/drawing/2014/main" val="20006"/>
                    </a:ext>
                  </a:extLst>
                </a:gridCol>
                <a:gridCol w="573329">
                  <a:extLst>
                    <a:ext uri="{9D8B030D-6E8A-4147-A177-3AD203B41FA5}">
                      <a16:colId xmlns:a16="http://schemas.microsoft.com/office/drawing/2014/main" val="20007"/>
                    </a:ext>
                  </a:extLst>
                </a:gridCol>
                <a:gridCol w="573329">
                  <a:extLst>
                    <a:ext uri="{9D8B030D-6E8A-4147-A177-3AD203B41FA5}">
                      <a16:colId xmlns:a16="http://schemas.microsoft.com/office/drawing/2014/main" val="20008"/>
                    </a:ext>
                  </a:extLst>
                </a:gridCol>
                <a:gridCol w="573329">
                  <a:extLst>
                    <a:ext uri="{9D8B030D-6E8A-4147-A177-3AD203B41FA5}">
                      <a16:colId xmlns:a16="http://schemas.microsoft.com/office/drawing/2014/main" val="20009"/>
                    </a:ext>
                  </a:extLst>
                </a:gridCol>
                <a:gridCol w="573329">
                  <a:extLst>
                    <a:ext uri="{9D8B030D-6E8A-4147-A177-3AD203B41FA5}">
                      <a16:colId xmlns:a16="http://schemas.microsoft.com/office/drawing/2014/main" val="20010"/>
                    </a:ext>
                  </a:extLst>
                </a:gridCol>
                <a:gridCol w="573329">
                  <a:extLst>
                    <a:ext uri="{9D8B030D-6E8A-4147-A177-3AD203B41FA5}">
                      <a16:colId xmlns:a16="http://schemas.microsoft.com/office/drawing/2014/main" val="20011"/>
                    </a:ext>
                  </a:extLst>
                </a:gridCol>
              </a:tblGrid>
              <a:tr h="365760">
                <a:tc>
                  <a:txBody>
                    <a:bodyPr/>
                    <a:lstStyle/>
                    <a:p>
                      <a:pPr marL="0" indent="0" algn="l">
                        <a:buNone/>
                      </a:pPr>
                      <a:r>
                        <a:rPr lang="en-US" sz="1200" b="1" dirty="0">
                          <a:solidFill>
                            <a:schemeClr val="tx2"/>
                          </a:solidFill>
                        </a:rPr>
                        <a:t>capacity w  →</a:t>
                      </a:r>
                      <a:endParaRPr lang="en-US" sz="12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tc>
                  <a:txBody>
                    <a:bodyPr/>
                    <a:lstStyle/>
                    <a:p>
                      <a:pPr marL="0" indent="0" algn="ctr">
                        <a:buNone/>
                      </a:pPr>
                      <a:r>
                        <a:rPr lang="en-US" sz="1200" b="1" dirty="0">
                          <a:solidFill>
                            <a:schemeClr val="tx2"/>
                          </a:solidFill>
                        </a:rPr>
                        <a:t>0</a:t>
                      </a:r>
                      <a:endParaRPr lang="en-US" sz="12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tc>
                  <a:txBody>
                    <a:bodyPr/>
                    <a:lstStyle/>
                    <a:p>
                      <a:pPr marL="0" indent="0" algn="ctr">
                        <a:buNone/>
                      </a:pPr>
                      <a:r>
                        <a:rPr lang="en-US" sz="1200" b="1" dirty="0">
                          <a:solidFill>
                            <a:schemeClr val="tx2"/>
                          </a:solidFill>
                        </a:rPr>
                        <a:t>1</a:t>
                      </a:r>
                      <a:endParaRPr lang="en-US" sz="12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tc>
                  <a:txBody>
                    <a:bodyPr/>
                    <a:lstStyle/>
                    <a:p>
                      <a:pPr marL="0" indent="0" algn="ctr">
                        <a:buNone/>
                      </a:pPr>
                      <a:r>
                        <a:rPr lang="en-US" sz="1200" b="1" dirty="0">
                          <a:solidFill>
                            <a:schemeClr val="tx2"/>
                          </a:solidFill>
                        </a:rPr>
                        <a:t>2</a:t>
                      </a:r>
                      <a:endParaRPr lang="en-US" sz="12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tc>
                  <a:txBody>
                    <a:bodyPr/>
                    <a:lstStyle/>
                    <a:p>
                      <a:pPr marL="0" indent="0" algn="ctr">
                        <a:buNone/>
                      </a:pPr>
                      <a:r>
                        <a:rPr lang="en-US" sz="1200" b="1" dirty="0">
                          <a:solidFill>
                            <a:schemeClr val="tx2"/>
                          </a:solidFill>
                        </a:rPr>
                        <a:t>3</a:t>
                      </a:r>
                      <a:endParaRPr lang="en-US" sz="12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tc>
                  <a:txBody>
                    <a:bodyPr/>
                    <a:lstStyle/>
                    <a:p>
                      <a:pPr marL="0" indent="0" algn="ctr">
                        <a:buNone/>
                      </a:pPr>
                      <a:r>
                        <a:rPr lang="en-US" sz="1200" b="1" dirty="0">
                          <a:solidFill>
                            <a:schemeClr val="tx2"/>
                          </a:solidFill>
                        </a:rPr>
                        <a:t>4</a:t>
                      </a:r>
                      <a:endParaRPr lang="en-US" sz="12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tc>
                  <a:txBody>
                    <a:bodyPr/>
                    <a:lstStyle/>
                    <a:p>
                      <a:pPr marL="0" indent="0" algn="ctr">
                        <a:buNone/>
                      </a:pPr>
                      <a:r>
                        <a:rPr lang="en-US" sz="1200" b="1" dirty="0">
                          <a:solidFill>
                            <a:schemeClr val="tx2"/>
                          </a:solidFill>
                        </a:rPr>
                        <a:t>5</a:t>
                      </a:r>
                      <a:endParaRPr lang="en-US" sz="12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tc>
                  <a:txBody>
                    <a:bodyPr/>
                    <a:lstStyle/>
                    <a:p>
                      <a:pPr marL="0" indent="0" algn="ctr">
                        <a:buNone/>
                      </a:pPr>
                      <a:r>
                        <a:rPr lang="en-US" sz="1200" b="1" dirty="0">
                          <a:solidFill>
                            <a:schemeClr val="tx2"/>
                          </a:solidFill>
                        </a:rPr>
                        <a:t>6</a:t>
                      </a:r>
                      <a:endParaRPr lang="en-US" sz="12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tc>
                  <a:txBody>
                    <a:bodyPr/>
                    <a:lstStyle/>
                    <a:p>
                      <a:pPr marL="0" indent="0" algn="ctr">
                        <a:buNone/>
                      </a:pPr>
                      <a:r>
                        <a:rPr lang="en-US" sz="1200" b="1" dirty="0">
                          <a:solidFill>
                            <a:schemeClr val="tx2"/>
                          </a:solidFill>
                        </a:rPr>
                        <a:t>7</a:t>
                      </a:r>
                      <a:endParaRPr lang="en-US" sz="12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tc>
                  <a:txBody>
                    <a:bodyPr/>
                    <a:lstStyle/>
                    <a:p>
                      <a:pPr marL="0" indent="0" algn="ctr">
                        <a:buNone/>
                      </a:pPr>
                      <a:r>
                        <a:rPr lang="en-US" sz="1200" b="1" dirty="0">
                          <a:solidFill>
                            <a:schemeClr val="tx2"/>
                          </a:solidFill>
                        </a:rPr>
                        <a:t>8</a:t>
                      </a:r>
                      <a:endParaRPr lang="en-US" sz="12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tc>
                  <a:txBody>
                    <a:bodyPr/>
                    <a:lstStyle/>
                    <a:p>
                      <a:pPr marL="0" indent="0" algn="ctr">
                        <a:buNone/>
                      </a:pPr>
                      <a:r>
                        <a:rPr lang="en-US" sz="1200" b="1" dirty="0">
                          <a:solidFill>
                            <a:schemeClr val="tx2"/>
                          </a:solidFill>
                        </a:rPr>
                        <a:t>9</a:t>
                      </a:r>
                      <a:endParaRPr lang="en-US" sz="12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tc>
                  <a:txBody>
                    <a:bodyPr/>
                    <a:lstStyle/>
                    <a:p>
                      <a:pPr marL="0" indent="0" algn="ctr">
                        <a:buNone/>
                      </a:pPr>
                      <a:r>
                        <a:rPr lang="en-US" sz="1200" b="1" dirty="0">
                          <a:solidFill>
                            <a:schemeClr val="tx2"/>
                          </a:solidFill>
                        </a:rPr>
                        <a:t>10</a:t>
                      </a:r>
                      <a:endParaRPr lang="en-US" sz="1200" dirty="0"/>
                    </a:p>
                  </a:txBody>
                  <a:tcPr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marL="0" indent="0" algn="l">
                        <a:buNone/>
                      </a:pPr>
                      <a:r>
                        <a:rPr lang="en-US" sz="1200" b="1" dirty="0">
                          <a:solidFill>
                            <a:schemeClr val="tx1"/>
                          </a:solidFill>
                        </a:rPr>
                        <a:t>i = 0   (no items)</a:t>
                      </a:r>
                      <a:endParaRPr lang="en-US" sz="12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2"/>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2"/>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2"/>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2"/>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2"/>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2"/>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2"/>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2"/>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2"/>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2"/>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2"/>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65760">
                <a:tc>
                  <a:txBody>
                    <a:bodyPr/>
                    <a:lstStyle/>
                    <a:p>
                      <a:pPr marL="0" indent="0" algn="l">
                        <a:buNone/>
                      </a:pPr>
                      <a:r>
                        <a:rPr lang="en-US" sz="1200" b="1" dirty="0">
                          <a:solidFill>
                            <a:schemeClr val="tx1"/>
                          </a:solidFill>
                        </a:rPr>
                        <a:t>i = 1   (6 kg, 30)</a:t>
                      </a:r>
                      <a:endParaRPr lang="en-US" sz="12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30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30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30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30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30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l">
                        <a:buNone/>
                      </a:pPr>
                      <a:r>
                        <a:rPr lang="en-US" sz="1200" b="1" dirty="0">
                          <a:solidFill>
                            <a:schemeClr val="tx1"/>
                          </a:solidFill>
                        </a:rPr>
                        <a:t>i = 2   (5 kg, 24)</a:t>
                      </a:r>
                      <a:endParaRPr lang="en-US" sz="12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b="1" dirty="0">
                          <a:solidFill>
                            <a:schemeClr val="bg1"/>
                          </a:solidFill>
                        </a:rPr>
                        <a:t>24</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accent1"/>
                    </a:solidFill>
                  </a:tcPr>
                </a:tc>
                <a:tc>
                  <a:txBody>
                    <a:bodyPr/>
                    <a:lstStyle/>
                    <a:p>
                      <a:pPr marL="0" indent="0" algn="ctr">
                        <a:buNone/>
                      </a:pPr>
                      <a:r>
                        <a:rPr lang="en-US" sz="1300" dirty="0">
                          <a:solidFill>
                            <a:schemeClr val="tx1"/>
                          </a:solidFill>
                        </a:rPr>
                        <a:t>30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30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30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30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b="1" dirty="0">
                          <a:solidFill>
                            <a:schemeClr val="tx1"/>
                          </a:solidFill>
                        </a:rPr>
                        <a:t>30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365760">
                <a:tc>
                  <a:txBody>
                    <a:bodyPr/>
                    <a:lstStyle/>
                    <a:p>
                      <a:pPr marL="0" indent="0" algn="l">
                        <a:buNone/>
                      </a:pPr>
                      <a:r>
                        <a:rPr lang="en-US" sz="1200" b="1" dirty="0">
                          <a:solidFill>
                            <a:schemeClr val="tx1"/>
                          </a:solidFill>
                        </a:rPr>
                        <a:t>i = 3   (5 kg, 24)</a:t>
                      </a:r>
                      <a:endParaRPr lang="en-US" sz="12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24</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30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30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30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dirty="0">
                          <a:solidFill>
                            <a:schemeClr val="tx1"/>
                          </a:solidFill>
                        </a:rPr>
                        <a:t>30</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tcPr>
                </a:tc>
                <a:tc>
                  <a:txBody>
                    <a:bodyPr/>
                    <a:lstStyle/>
                    <a:p>
                      <a:pPr marL="0" indent="0" algn="ctr">
                        <a:buNone/>
                      </a:pPr>
                      <a:r>
                        <a:rPr lang="en-US" sz="1300" b="1" dirty="0">
                          <a:solidFill>
                            <a:schemeClr val="bg1"/>
                          </a:solidFill>
                        </a:rPr>
                        <a:t>48</a:t>
                      </a:r>
                      <a:endParaRPr lang="en-US" sz="1300" dirty="0"/>
                    </a:p>
                  </a:txBody>
                  <a:tcPr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6350" cap="flat" cmpd="sng" algn="ctr">
                      <a:solidFill>
                        <a:schemeClr val="accent4"/>
                      </a:solidFill>
                      <a:prstDash val="solid"/>
                      <a:round/>
                      <a:headEnd type="none" w="med" len="med"/>
                      <a:tailEnd type="none" w="med" len="med"/>
                    </a:lnT>
                    <a:lnB w="6350" cap="flat" cmpd="sng" algn="ctr">
                      <a:solidFill>
                        <a:schemeClr val="accent4"/>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548640" y="3364992"/>
            <a:ext cx="3657600" cy="228600"/>
          </a:xfrm>
          <a:prstGeom prst="rect">
            <a:avLst/>
          </a:prstGeom>
          <a:noFill/>
          <a:ln/>
        </p:spPr>
        <p:txBody>
          <a:bodyPr wrap="square" lIns="0" tIns="0" rIns="0" bIns="0" rtlCol="0" anchor="ctr"/>
          <a:lstStyle/>
          <a:p>
            <a:pPr marL="0" indent="0">
              <a:buNone/>
            </a:pPr>
            <a:r>
              <a:rPr lang="en-US" sz="1100" b="1" kern="0" spc="300" dirty="0">
                <a:solidFill>
                  <a:schemeClr val="accent1"/>
                </a:solidFill>
              </a:rPr>
              <a:t>HOW DP[3][10] IS FILLED</a:t>
            </a:r>
            <a:endParaRPr lang="en-US" sz="1100" dirty="0"/>
          </a:p>
        </p:txBody>
      </p:sp>
      <p:sp>
        <p:nvSpPr>
          <p:cNvPr id="6" name="Legend taken"/>
          <p:cNvSpPr/>
          <p:nvPr/>
        </p:nvSpPr>
        <p:spPr>
          <a:xfrm>
            <a:off x="5760720" y="3419856"/>
            <a:ext cx="128016" cy="128016"/>
          </a:xfrm>
          <a:prstGeom prst="rect">
            <a:avLst/>
          </a:prstGeom>
          <a:solidFill>
            <a:schemeClr val="accent1"/>
          </a:solidFill>
          <a:ln/>
        </p:spPr>
      </p:sp>
      <p:sp>
        <p:nvSpPr>
          <p:cNvPr id="7" name="Text 4"/>
          <p:cNvSpPr txBox="1"/>
          <p:nvPr/>
        </p:nvSpPr>
        <p:spPr>
          <a:xfrm>
            <a:off x="5943600" y="3364992"/>
            <a:ext cx="822960" cy="228600"/>
          </a:xfrm>
          <a:prstGeom prst="rect">
            <a:avLst/>
          </a:prstGeom>
          <a:noFill/>
          <a:ln/>
        </p:spPr>
        <p:txBody>
          <a:bodyPr wrap="square" lIns="0" tIns="0" rIns="0" bIns="0" rtlCol="0" anchor="ctr"/>
          <a:lstStyle/>
          <a:p>
            <a:pPr marL="0" indent="0">
              <a:buNone/>
            </a:pPr>
            <a:r>
              <a:rPr lang="en-US" sz="1000" dirty="0">
                <a:solidFill>
                  <a:schemeClr val="tx2"/>
                </a:solidFill>
              </a:rPr>
              <a:t>item taken</a:t>
            </a:r>
            <a:endParaRPr lang="en-US" sz="1000" dirty="0"/>
          </a:p>
        </p:txBody>
      </p:sp>
      <p:sp>
        <p:nvSpPr>
          <p:cNvPr id="4" name="Legend skip"/>
          <p:cNvSpPr/>
          <p:nvPr/>
        </p:nvSpPr>
        <p:spPr>
          <a:xfrm>
            <a:off x="6903720" y="3419856"/>
            <a:ext cx="128016" cy="128016"/>
          </a:xfrm>
          <a:prstGeom prst="rect">
            <a:avLst/>
          </a:prstGeom>
          <a:solidFill>
            <a:schemeClr val="accent6"/>
          </a:solidFill>
          <a:ln/>
        </p:spPr>
      </p:sp>
      <p:sp>
        <p:nvSpPr>
          <p:cNvPr id="9" name="Text 6"/>
          <p:cNvSpPr txBox="1"/>
          <p:nvPr/>
        </p:nvSpPr>
        <p:spPr>
          <a:xfrm>
            <a:off x="7086600" y="3364992"/>
            <a:ext cx="1097280" cy="228600"/>
          </a:xfrm>
          <a:prstGeom prst="rect">
            <a:avLst/>
          </a:prstGeom>
          <a:noFill/>
          <a:ln/>
        </p:spPr>
        <p:txBody>
          <a:bodyPr wrap="square" lIns="0" tIns="0" rIns="0" bIns="0" rtlCol="0" anchor="ctr"/>
          <a:lstStyle/>
          <a:p>
            <a:pPr marL="0" indent="0">
              <a:buNone/>
            </a:pPr>
            <a:r>
              <a:rPr lang="en-US" sz="1000" dirty="0">
                <a:solidFill>
                  <a:schemeClr val="tx2"/>
                </a:solidFill>
              </a:rPr>
              <a:t>skip candidate</a:t>
            </a:r>
            <a:endParaRPr lang="en-US" sz="1000" dirty="0"/>
          </a:p>
        </p:txBody>
      </p:sp>
      <p:sp>
        <p:nvSpPr>
          <p:cNvPr id="10" name="Text 7"/>
          <p:cNvSpPr txBox="1"/>
          <p:nvPr/>
        </p:nvSpPr>
        <p:spPr>
          <a:xfrm>
            <a:off x="548640" y="3639312"/>
            <a:ext cx="8046720" cy="365760"/>
          </a:xfrm>
          <a:prstGeom prst="rect">
            <a:avLst/>
          </a:prstGeom>
          <a:noFill/>
          <a:ln/>
        </p:spPr>
        <p:txBody>
          <a:bodyPr wrap="square" lIns="0" tIns="0" rIns="0" bIns="0" rtlCol="0" anchor="ctr"/>
          <a:lstStyle/>
          <a:p>
            <a:pPr marL="0" indent="0">
              <a:buNone/>
            </a:pPr>
            <a:r>
              <a:rPr lang="en-US" sz="1700" dirty="0">
                <a:solidFill>
                  <a:schemeClr val="tx1"/>
                </a:solidFill>
                <a:latin typeface="+mj-lt" pitchFamily="34" charset="0"/>
                <a:ea typeface="+mj-lt" pitchFamily="34" charset="-122"/>
                <a:cs typeface="+mj-lt" pitchFamily="34" charset="-120"/>
              </a:rPr>
              <a:t>DP[3][10] = max( DP[2][10],  24 + DP[2][5] ) = max( 30,  48 ) = 48</a:t>
            </a:r>
            <a:endParaRPr lang="en-US" sz="1700" dirty="0"/>
          </a:p>
        </p:txBody>
      </p:sp>
      <p:sp>
        <p:nvSpPr>
          <p:cNvPr id="11" name="Text 8"/>
          <p:cNvSpPr txBox="1"/>
          <p:nvPr/>
        </p:nvSpPr>
        <p:spPr>
          <a:xfrm>
            <a:off x="548640" y="4096512"/>
            <a:ext cx="5669280" cy="457200"/>
          </a:xfrm>
          <a:prstGeom prst="rect">
            <a:avLst/>
          </a:prstGeom>
          <a:noFill/>
          <a:ln/>
        </p:spPr>
        <p:txBody>
          <a:bodyPr wrap="square" lIns="0" tIns="0" rIns="0" bIns="0" rtlCol="0" anchor="t"/>
          <a:lstStyle/>
          <a:p>
            <a:pPr marL="0" indent="0">
              <a:buNone/>
            </a:pPr>
            <a:r>
              <a:rPr lang="en-US" sz="1300" dirty="0">
                <a:solidFill>
                  <a:schemeClr val="tx1"/>
                </a:solidFill>
              </a:rPr>
              <a:t>Traceback: DP[3][10] ≠ DP[2][10], so item 3 is taken; then DP[2][5] ≠ DP[1][5], so item 2 is taken. Items 2 and 3 weigh 10 kg in total.</a:t>
            </a:r>
            <a:endParaRPr lang="en-US" sz="1300" dirty="0"/>
          </a:p>
        </p:txBody>
      </p:sp>
      <p:sp>
        <p:nvSpPr>
          <p:cNvPr id="12" name="Text 9"/>
          <p:cNvSpPr txBox="1"/>
          <p:nvPr/>
        </p:nvSpPr>
        <p:spPr>
          <a:xfrm>
            <a:off x="6675120" y="4023360"/>
            <a:ext cx="1005840" cy="548640"/>
          </a:xfrm>
          <a:prstGeom prst="rect">
            <a:avLst/>
          </a:prstGeom>
          <a:noFill/>
          <a:ln/>
        </p:spPr>
        <p:txBody>
          <a:bodyPr wrap="square" lIns="0" tIns="0" rIns="0" bIns="0" rtlCol="0" anchor="ctr"/>
          <a:lstStyle/>
          <a:p>
            <a:pPr marL="0" indent="0">
              <a:buNone/>
            </a:pPr>
            <a:r>
              <a:rPr lang="en-US" sz="3800" b="1" dirty="0">
                <a:solidFill>
                  <a:schemeClr val="accent1"/>
                </a:solidFill>
                <a:latin typeface="+mj-lt" pitchFamily="34" charset="0"/>
                <a:ea typeface="+mj-lt" pitchFamily="34" charset="-122"/>
                <a:cs typeface="+mj-lt" pitchFamily="34" charset="-120"/>
              </a:rPr>
              <a:t>48</a:t>
            </a:r>
            <a:endParaRPr lang="en-US" sz="3800" dirty="0"/>
          </a:p>
        </p:txBody>
      </p:sp>
      <p:sp>
        <p:nvSpPr>
          <p:cNvPr id="13" name="Text 10"/>
          <p:cNvSpPr txBox="1"/>
          <p:nvPr/>
        </p:nvSpPr>
        <p:spPr>
          <a:xfrm>
            <a:off x="7680960" y="4023360"/>
            <a:ext cx="914400" cy="548640"/>
          </a:xfrm>
          <a:prstGeom prst="rect">
            <a:avLst/>
          </a:prstGeom>
          <a:noFill/>
          <a:ln/>
        </p:spPr>
        <p:txBody>
          <a:bodyPr wrap="square" lIns="0" tIns="0" rIns="0" bIns="0" rtlCol="0" anchor="ctr"/>
          <a:lstStyle/>
          <a:p>
            <a:pPr marL="0" indent="0">
              <a:buNone/>
            </a:pPr>
            <a:r>
              <a:rPr lang="en-US" sz="1100" dirty="0">
                <a:solidFill>
                  <a:schemeClr val="tx2"/>
                </a:solidFill>
              </a:rPr>
              <a:t>optimal</a:t>
            </a:r>
            <a:endParaRPr lang="en-US" sz="1100" dirty="0"/>
          </a:p>
          <a:p>
            <a:pPr marL="0" indent="0">
              <a:buNone/>
            </a:pPr>
            <a:r>
              <a:rPr lang="en-US" sz="1300" dirty="0">
                <a:solidFill>
                  <a:schemeClr val="tx1"/>
                </a:solidFill>
              </a:rPr>
              <a:t>profit</a:t>
            </a:r>
            <a:endParaRPr lang="en-US" sz="11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046720" cy="237744"/>
          </a:xfrm>
          <a:prstGeom prst="rect">
            <a:avLst/>
          </a:prstGeom>
          <a:noFill/>
          <a:ln/>
        </p:spPr>
        <p:txBody>
          <a:bodyPr wrap="square" lIns="0" tIns="0" rIns="0" bIns="0" rtlCol="0" anchor="ctr"/>
          <a:lstStyle/>
          <a:p>
            <a:pPr marL="0" indent="0" algn="l">
              <a:buNone/>
            </a:pPr>
            <a:r>
              <a:rPr lang="en-US" sz="1100" b="1" kern="0" spc="300" dirty="0">
                <a:solidFill>
                  <a:schemeClr val="accent1"/>
                </a:solidFill>
              </a:rPr>
              <a:t>08  ·  COMPARISON</a:t>
            </a:r>
            <a:endParaRPr lang="en-US" sz="1100" dirty="0"/>
          </a:p>
        </p:txBody>
      </p:sp>
      <p:sp>
        <p:nvSpPr>
          <p:cNvPr id="3" name="Text 0"/>
          <p:cNvSpPr>
            <a:spLocks noGrp="1"/>
          </p:cNvSpPr>
          <p:nvPr>
            <p:ph type="title" idx="101" hasCustomPrompt="1"/>
          </p:nvPr>
        </p:nvSpPr>
        <p:spPr>
          <a:xfrm>
            <a:off x="548640" y="603504"/>
            <a:ext cx="8046720" cy="566928"/>
          </a:xfrm>
          <a:prstGeom prst="rect">
            <a:avLst/>
          </a:prstGeom>
          <a:noFill/>
          <a:ln/>
        </p:spPr>
        <p:txBody>
          <a:bodyPr wrap="square" lIns="0" tIns="0" rIns="0" bIns="0" rtlCol="0" anchor="ctr"/>
          <a:lstStyle/>
          <a:p>
            <a:pPr marL="0" indent="0" algn="l">
              <a:buNone/>
            </a:pPr>
            <a:r>
              <a:rPr lang="en-US" sz="3200" b="1" dirty="0">
                <a:solidFill>
                  <a:schemeClr val="tx1"/>
                </a:solidFill>
              </a:rPr>
              <a:t>Greedy vs DP, side by side</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2523744"/>
        </p:xfrm>
        <a:graphic>
          <a:graphicData uri="http://schemas.openxmlformats.org/drawingml/2006/table">
            <a:tbl>
              <a:tblPr/>
              <a:tblGrid>
                <a:gridCol w="137160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tblGrid>
              <a:tr h="329184">
                <a:tc>
                  <a:txBody>
                    <a:bodyPr/>
                    <a:lstStyle/>
                    <a:p>
                      <a:pPr marL="0" indent="0" algn="l">
                        <a:buNone/>
                      </a:pPr>
                      <a:endParaRPr lang="en-US" sz="1200" dirty="0"/>
                    </a:p>
                  </a:txBody>
                  <a:tcPr marT="0" marB="0"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solidFill>
                      <a:schemeClr val="tx1"/>
                    </a:solidFill>
                  </a:tcPr>
                </a:tc>
                <a:tc>
                  <a:txBody>
                    <a:bodyPr/>
                    <a:lstStyle/>
                    <a:p>
                      <a:pPr marL="0" indent="0" algn="l">
                        <a:buNone/>
                      </a:pPr>
                      <a:r>
                        <a:rPr lang="en-US" sz="1200" b="1" dirty="0">
                          <a:solidFill>
                            <a:schemeClr val="bg1"/>
                          </a:solidFill>
                        </a:rPr>
                        <a:t>Greedy  ·  fractional knapsack</a:t>
                      </a:r>
                      <a:endParaRPr lang="en-US" sz="1200" dirty="0"/>
                    </a:p>
                  </a:txBody>
                  <a:tcPr marT="0" marB="0"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solidFill>
                      <a:schemeClr val="tx1"/>
                    </a:solidFill>
                  </a:tcPr>
                </a:tc>
                <a:tc>
                  <a:txBody>
                    <a:bodyPr/>
                    <a:lstStyle/>
                    <a:p>
                      <a:pPr marL="0" indent="0" algn="l">
                        <a:buNone/>
                      </a:pPr>
                      <a:r>
                        <a:rPr lang="en-US" sz="1200" b="1" dirty="0">
                          <a:solidFill>
                            <a:schemeClr val="bg1"/>
                          </a:solidFill>
                        </a:rPr>
                        <a:t>Dynamic programming  ·  0/1 knapsack</a:t>
                      </a:r>
                      <a:endParaRPr lang="en-US" sz="1200" dirty="0"/>
                    </a:p>
                  </a:txBody>
                  <a:tcPr marT="0" marB="0" anchor="ctr">
                    <a:lnL w="0" cap="flat" cmpd="sng" algn="ctr">
                      <a:noFill/>
                    </a:lnL>
                    <a:lnR w="0" cap="flat" cmpd="sng" algn="ctr">
                      <a:noFill/>
                    </a:lnR>
                    <a:lnT w="0" cap="flat" cmpd="sng" algn="ctr">
                      <a:noFill/>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02336">
                <a:tc>
                  <a:txBody>
                    <a:bodyPr/>
                    <a:lstStyle/>
                    <a:p>
                      <a:pPr marL="0" indent="0" algn="l">
                        <a:buNone/>
                      </a:pPr>
                      <a:r>
                        <a:rPr lang="en-US" sz="1100" b="1" kern="0" spc="200" dirty="0">
                          <a:solidFill>
                            <a:schemeClr val="accent1"/>
                          </a:solidFill>
                        </a:rPr>
                        <a:t>STRATEGY</a:t>
                      </a:r>
                      <a:endParaRPr lang="en-US" sz="1100" dirty="0"/>
                    </a:p>
                  </a:txBody>
                  <a:tcPr marT="0" marB="0" anchor="ctr">
                    <a:lnL w="0" cap="flat" cmpd="sng" algn="ctr">
                      <a:noFill/>
                    </a:lnL>
                    <a:lnR w="0" cap="flat" cmpd="sng" algn="ctr">
                      <a:noFill/>
                    </a:lnR>
                    <a:lnT w="12700" cap="flat" cmpd="sng" algn="ctr">
                      <a:solidFill>
                        <a:schemeClr val="tx1"/>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l">
                        <a:buNone/>
                      </a:pPr>
                      <a:r>
                        <a:rPr lang="en-US" sz="1300" dirty="0">
                          <a:solidFill>
                            <a:schemeClr val="tx1"/>
                          </a:solidFill>
                        </a:rPr>
                        <a:t>Sort by profit/weight, fill from the top</a:t>
                      </a:r>
                      <a:endParaRPr lang="en-US" sz="1300" dirty="0"/>
                    </a:p>
                  </a:txBody>
                  <a:tcPr marT="0" marB="0" anchor="ctr">
                    <a:lnL w="0" cap="flat" cmpd="sng" algn="ctr">
                      <a:noFill/>
                    </a:lnL>
                    <a:lnR w="0" cap="flat" cmpd="sng" algn="ctr">
                      <a:noFill/>
                    </a:lnR>
                    <a:lnT w="12700" cap="flat" cmpd="sng" algn="ctr">
                      <a:solidFill>
                        <a:schemeClr val="tx1"/>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l">
                        <a:buNone/>
                      </a:pPr>
                      <a:r>
                        <a:rPr lang="en-US" sz="1300" dirty="0">
                          <a:solidFill>
                            <a:schemeClr val="tx1"/>
                          </a:solidFill>
                        </a:rPr>
                        <a:t>Fill DP[i][w] for every item prefix and capacity</a:t>
                      </a:r>
                      <a:endParaRPr lang="en-US" sz="1300" dirty="0"/>
                    </a:p>
                  </a:txBody>
                  <a:tcPr marT="0" marB="0" anchor="ctr">
                    <a:lnL w="0" cap="flat" cmpd="sng" algn="ctr">
                      <a:noFill/>
                    </a:lnL>
                    <a:lnR w="0" cap="flat" cmpd="sng" algn="ctr">
                      <a:noFill/>
                    </a:lnR>
                    <a:lnT w="12700" cap="flat" cmpd="sng" algn="ctr">
                      <a:solidFill>
                        <a:schemeClr val="tx1"/>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lgn="l">
                        <a:buNone/>
                      </a:pPr>
                      <a:r>
                        <a:rPr lang="en-US" sz="1100" b="1" kern="0" spc="200" dirty="0">
                          <a:solidFill>
                            <a:schemeClr val="accent1"/>
                          </a:solidFill>
                        </a:rPr>
                        <a:t>CORRECTNESS</a:t>
                      </a:r>
                      <a:endParaRPr lang="en-US" sz="1100" dirty="0"/>
                    </a:p>
                  </a:txBody>
                  <a:tcPr marT="0" marB="0"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l">
                        <a:buNone/>
                      </a:pPr>
                      <a:r>
                        <a:rPr lang="en-US" sz="1300" dirty="0">
                          <a:solidFill>
                            <a:schemeClr val="tx1"/>
                          </a:solidFill>
                        </a:rPr>
                        <a:t>Optimal for fractional. Not for 0/1: found 30, best is 48</a:t>
                      </a:r>
                      <a:endParaRPr lang="en-US" sz="1300" dirty="0"/>
                    </a:p>
                  </a:txBody>
                  <a:tcPr marT="0" marB="0"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l">
                        <a:buNone/>
                      </a:pPr>
                      <a:r>
                        <a:rPr lang="en-US" sz="1300" dirty="0">
                          <a:solidFill>
                            <a:schemeClr val="tx1"/>
                          </a:solidFill>
                        </a:rPr>
                        <a:t>Optimal for 0/1: every subproblem DP[i][w] is solved exactly</a:t>
                      </a:r>
                      <a:endParaRPr lang="en-US" sz="1300" dirty="0"/>
                    </a:p>
                  </a:txBody>
                  <a:tcPr marT="0" marB="0"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lgn="l">
                        <a:buNone/>
                      </a:pPr>
                      <a:r>
                        <a:rPr lang="en-US" sz="1100" b="1" kern="0" spc="200" dirty="0">
                          <a:solidFill>
                            <a:schemeClr val="accent1"/>
                          </a:solidFill>
                        </a:rPr>
                        <a:t>TIME</a:t>
                      </a:r>
                      <a:endParaRPr lang="en-US" sz="1100" dirty="0"/>
                    </a:p>
                  </a:txBody>
                  <a:tcPr marT="0" marB="0"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l">
                        <a:buNone/>
                      </a:pPr>
                      <a:r>
                        <a:rPr lang="en-US" sz="2000" b="1" dirty="0">
                          <a:solidFill>
                            <a:schemeClr val="tx1"/>
                          </a:solidFill>
                          <a:latin typeface="+mj-lt" pitchFamily="34" charset="0"/>
                          <a:ea typeface="+mj-lt" pitchFamily="34" charset="-122"/>
                          <a:cs typeface="+mj-lt" pitchFamily="34" charset="-120"/>
                        </a:rPr>
                        <a:t>O(n log n)</a:t>
                      </a:r>
                      <a:endParaRPr lang="en-US" sz="2000" dirty="0">
                        <a:latin typeface="+mj-lt" charset="0"/>
                        <a:ea typeface="+mj-lt" charset="0"/>
                        <a:cs typeface="+mj-lt" charset="0"/>
                      </a:endParaRPr>
                    </a:p>
                  </a:txBody>
                  <a:tcPr marT="0" marB="0"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l">
                        <a:buNone/>
                      </a:pPr>
                      <a:r>
                        <a:rPr lang="en-US" sz="2000" b="1" dirty="0">
                          <a:solidFill>
                            <a:schemeClr val="tx1"/>
                          </a:solidFill>
                          <a:latin typeface="+mj-lt" pitchFamily="34" charset="0"/>
                          <a:ea typeface="+mj-lt" pitchFamily="34" charset="-122"/>
                          <a:cs typeface="+mj-lt" pitchFamily="34" charset="-120"/>
                        </a:rPr>
                        <a:t>O(nW)</a:t>
                      </a:r>
                      <a:endParaRPr lang="en-US" sz="2000" dirty="0">
                        <a:latin typeface="+mj-lt" charset="0"/>
                        <a:ea typeface="+mj-lt" charset="0"/>
                        <a:cs typeface="+mj-lt" charset="0"/>
                      </a:endParaRPr>
                    </a:p>
                  </a:txBody>
                  <a:tcPr marT="0" marB="0"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r>
                        <a:rPr lang="en-US" sz="1100" b="1" kern="0" spc="200" dirty="0">
                          <a:solidFill>
                            <a:schemeClr val="accent1"/>
                          </a:solidFill>
                        </a:rPr>
                        <a:t>SPACE</a:t>
                      </a:r>
                      <a:endParaRPr lang="en-US" sz="1100" dirty="0"/>
                    </a:p>
                  </a:txBody>
                  <a:tcPr marT="0" marB="0"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l">
                        <a:buNone/>
                      </a:pPr>
                      <a:r>
                        <a:rPr lang="en-US" sz="1300" dirty="0">
                          <a:solidFill>
                            <a:schemeClr val="tx1"/>
                          </a:solidFill>
                        </a:rPr>
                        <a:t>O(n)</a:t>
                      </a:r>
                      <a:endParaRPr lang="en-US" sz="1300" dirty="0"/>
                    </a:p>
                  </a:txBody>
                  <a:tcPr marT="0" marB="0"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l">
                        <a:buNone/>
                      </a:pPr>
                      <a:r>
                        <a:rPr lang="en-US" sz="1200" dirty="0">
                          <a:solidFill>
                            <a:schemeClr val="tx1"/>
                          </a:solidFill>
                        </a:rPr>
                        <a:t>O(nW) for the full table; O(W) if only the value is needed</a:t>
                      </a:r>
                      <a:endParaRPr lang="en-US" sz="1200" dirty="0"/>
                    </a:p>
                  </a:txBody>
                  <a:tcPr marT="0" marB="0"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lgn="l">
                        <a:buNone/>
                      </a:pPr>
                      <a:r>
                        <a:rPr lang="en-US" sz="1100" b="1" kern="0" spc="200" dirty="0">
                          <a:solidFill>
                            <a:schemeClr val="accent1"/>
                          </a:solidFill>
                        </a:rPr>
                        <a:t>LIMITATION</a:t>
                      </a:r>
                      <a:endParaRPr lang="en-US" sz="1100" dirty="0"/>
                    </a:p>
                  </a:txBody>
                  <a:tcPr marT="0" marB="0"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l">
                        <a:buNone/>
                      </a:pPr>
                      <a:r>
                        <a:rPr lang="en-US" sz="1300" dirty="0">
                          <a:solidFill>
                            <a:schemeClr val="tx1"/>
                          </a:solidFill>
                        </a:rPr>
                        <a:t>Items must be divisible</a:t>
                      </a:r>
                      <a:endParaRPr lang="en-US" sz="1300" dirty="0"/>
                    </a:p>
                  </a:txBody>
                  <a:tcPr marT="0" marB="0"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tc>
                  <a:txBody>
                    <a:bodyPr/>
                    <a:lstStyle/>
                    <a:p>
                      <a:pPr marL="0" indent="0" algn="l">
                        <a:buNone/>
                      </a:pPr>
                      <a:r>
                        <a:rPr lang="en-US" sz="1300" dirty="0">
                          <a:solidFill>
                            <a:schemeClr val="tx1"/>
                          </a:solidFill>
                        </a:rPr>
                        <a:t>Weights must be integers; cost grows with W</a:t>
                      </a:r>
                      <a:endParaRPr lang="en-US" sz="1300" dirty="0"/>
                    </a:p>
                  </a:txBody>
                  <a:tcPr marT="0" marB="0" anchor="ctr">
                    <a:lnL w="0" cap="flat" cmpd="sng" algn="ctr">
                      <a:noFill/>
                    </a:lnL>
                    <a:lnR w="0" cap="flat" cmpd="sng" algn="ctr">
                      <a:noFill/>
                    </a:lnR>
                    <a:lnT w="9525" cap="flat" cmpd="sng" algn="ctr">
                      <a:solidFill>
                        <a:schemeClr val="accent4"/>
                      </a:solidFill>
                      <a:prstDash val="solid"/>
                      <a:round/>
                      <a:headEnd type="none" w="med" len="med"/>
                      <a:tailEnd type="none" w="med" len="med"/>
                    </a:lnT>
                    <a:lnB w="9525"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Pseudo-polynomial note"/>
          <p:cNvSpPr txBox="1"/>
          <p:nvPr/>
        </p:nvSpPr>
        <p:spPr>
          <a:xfrm>
            <a:off x="548640" y="4069080"/>
            <a:ext cx="8046720" cy="548640"/>
          </a:xfrm>
          <a:prstGeom prst="rect">
            <a:avLst/>
          </a:prstGeom>
          <a:solidFill>
            <a:schemeClr val="bg2"/>
          </a:solidFill>
          <a:ln/>
        </p:spPr>
        <p:txBody>
          <a:bodyPr wrap="square" lIns="152400" tIns="152400" rIns="152400" bIns="152400" rtlCol="0" anchor="ctr"/>
          <a:lstStyle/>
          <a:p>
            <a:pPr marL="0" indent="0" algn="l">
              <a:buNone/>
            </a:pPr>
            <a:r>
              <a:rPr lang="en-US" sz="1300" dirty="0">
                <a:solidFill>
                  <a:schemeClr val="tx1"/>
                </a:solidFill>
              </a:rPr>
              <a:t>W is an integer capacity. O(nW) grows with the value of W, but W needs only about log₂ W bits to write down, so this is </a:t>
            </a:r>
            <a:r>
              <a:rPr lang="en-US" sz="1300" b="1" dirty="0">
                <a:solidFill>
                  <a:schemeClr val="accent1"/>
                </a:solidFill>
              </a:rPr>
              <a:t>pseudo-polynomial</a:t>
            </a:r>
            <a:r>
              <a:rPr lang="en-US" sz="1300" dirty="0">
                <a:solidFill>
                  <a:schemeClr val="tx1"/>
                </a:solidFill>
              </a:rPr>
              <a:t> time, not polynomial in the input length.</a:t>
            </a:r>
            <a:endParaRPr lang="en-US" sz="13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046720" cy="237744"/>
          </a:xfrm>
          <a:prstGeom prst="rect">
            <a:avLst/>
          </a:prstGeom>
          <a:noFill/>
          <a:ln/>
        </p:spPr>
        <p:txBody>
          <a:bodyPr wrap="square" lIns="0" tIns="0" rIns="0" bIns="0" rtlCol="0" anchor="ctr"/>
          <a:lstStyle/>
          <a:p>
            <a:pPr marL="0" indent="0" algn="l">
              <a:buNone/>
            </a:pPr>
            <a:r>
              <a:rPr lang="en-US" sz="1100" b="1" kern="0" spc="300" dirty="0">
                <a:solidFill>
                  <a:schemeClr val="accent5"/>
                </a:solidFill>
              </a:rPr>
              <a:t>09  ·  APPLICATIONS AND CONCLUSION</a:t>
            </a:r>
            <a:endParaRPr lang="en-US" sz="1100" dirty="0"/>
          </a:p>
        </p:txBody>
      </p:sp>
      <p:sp>
        <p:nvSpPr>
          <p:cNvPr id="3" name="Text 0"/>
          <p:cNvSpPr>
            <a:spLocks noGrp="1"/>
          </p:cNvSpPr>
          <p:nvPr>
            <p:ph type="title" idx="101" hasCustomPrompt="1"/>
          </p:nvPr>
        </p:nvSpPr>
        <p:spPr>
          <a:xfrm>
            <a:off x="548640" y="603504"/>
            <a:ext cx="8046720" cy="566928"/>
          </a:xfrm>
          <a:prstGeom prst="rect">
            <a:avLst/>
          </a:prstGeom>
          <a:noFill/>
          <a:ln/>
        </p:spPr>
        <p:txBody>
          <a:bodyPr wrap="square" lIns="0" tIns="0" rIns="0" bIns="0" rtlCol="0" anchor="ctr"/>
          <a:lstStyle/>
          <a:p>
            <a:pPr marL="0" indent="0" algn="l">
              <a:buNone/>
            </a:pPr>
            <a:r>
              <a:rPr lang="en-US" sz="3200" b="1" dirty="0">
                <a:solidFill>
                  <a:schemeClr val="bg1"/>
                </a:solidFill>
              </a:rPr>
              <a:t>Choosing the right tool</a:t>
            </a:r>
            <a:endParaRPr lang="en-US" sz="3200" dirty="0"/>
          </a:p>
        </p:txBody>
      </p:sp>
      <p:sp>
        <p:nvSpPr>
          <p:cNvPr id="4" name="Text 2"/>
          <p:cNvSpPr txBox="1"/>
          <p:nvPr/>
        </p:nvSpPr>
        <p:spPr>
          <a:xfrm>
            <a:off x="548640" y="1417320"/>
            <a:ext cx="4114800" cy="1828800"/>
          </a:xfrm>
          <a:prstGeom prst="rect">
            <a:avLst/>
          </a:prstGeom>
          <a:noFill/>
          <a:ln/>
        </p:spPr>
        <p:txBody>
          <a:bodyPr wrap="square" lIns="0" tIns="0" rIns="0" bIns="0" rtlCol="0" anchor="t"/>
          <a:lstStyle/>
          <a:p>
            <a:pPr marL="0" indent="0">
              <a:buNone/>
            </a:pPr>
            <a:r>
              <a:rPr lang="en-US" sz="2200" i="1" dirty="0">
                <a:solidFill>
                  <a:schemeClr val="bg1"/>
                </a:solidFill>
                <a:latin typeface="+mj-lt" pitchFamily="34" charset="0"/>
                <a:ea typeface="+mj-lt" pitchFamily="34" charset="-122"/>
                <a:cs typeface="+mj-lt" pitchFamily="34" charset="-120"/>
              </a:rPr>
              <a:t>Greedy is fast when items can be divided. Dynamic programming pays O(nW) to stay correct when they cannot.</a:t>
            </a:r>
            <a:endParaRPr lang="en-US" sz="2200" dirty="0"/>
          </a:p>
        </p:txBody>
      </p:sp>
      <p:sp>
        <p:nvSpPr>
          <p:cNvPr id="5" name="Capacity cell 1"/>
          <p:cNvSpPr/>
          <p:nvPr/>
        </p:nvSpPr>
        <p:spPr>
          <a:xfrm>
            <a:off x="548640" y="3703320"/>
            <a:ext cx="370332" cy="274320"/>
          </a:xfrm>
          <a:prstGeom prst="rect">
            <a:avLst/>
          </a:prstGeom>
          <a:solidFill>
            <a:schemeClr val="tx2"/>
          </a:solidFill>
          <a:ln/>
        </p:spPr>
      </p:sp>
      <p:sp>
        <p:nvSpPr>
          <p:cNvPr id="6" name="Capacity cell 2"/>
          <p:cNvSpPr/>
          <p:nvPr/>
        </p:nvSpPr>
        <p:spPr>
          <a:xfrm>
            <a:off x="964692" y="3703320"/>
            <a:ext cx="370332" cy="274320"/>
          </a:xfrm>
          <a:prstGeom prst="rect">
            <a:avLst/>
          </a:prstGeom>
          <a:solidFill>
            <a:schemeClr val="tx2"/>
          </a:solidFill>
          <a:ln/>
        </p:spPr>
      </p:sp>
      <p:sp>
        <p:nvSpPr>
          <p:cNvPr id="7" name="Capacity cell 3"/>
          <p:cNvSpPr/>
          <p:nvPr/>
        </p:nvSpPr>
        <p:spPr>
          <a:xfrm>
            <a:off x="1380744" y="3703320"/>
            <a:ext cx="370332" cy="274320"/>
          </a:xfrm>
          <a:prstGeom prst="rect">
            <a:avLst/>
          </a:prstGeom>
          <a:solidFill>
            <a:schemeClr val="tx2"/>
          </a:solidFill>
          <a:ln/>
        </p:spPr>
      </p:sp>
      <p:sp>
        <p:nvSpPr>
          <p:cNvPr id="8" name="Capacity cell 4"/>
          <p:cNvSpPr/>
          <p:nvPr/>
        </p:nvSpPr>
        <p:spPr>
          <a:xfrm>
            <a:off x="1796796" y="3703320"/>
            <a:ext cx="370332" cy="274320"/>
          </a:xfrm>
          <a:prstGeom prst="rect">
            <a:avLst/>
          </a:prstGeom>
          <a:solidFill>
            <a:schemeClr val="tx2"/>
          </a:solidFill>
          <a:ln/>
        </p:spPr>
      </p:sp>
      <p:sp>
        <p:nvSpPr>
          <p:cNvPr id="9" name="Capacity cell 5"/>
          <p:cNvSpPr/>
          <p:nvPr/>
        </p:nvSpPr>
        <p:spPr>
          <a:xfrm>
            <a:off x="2212848" y="3703320"/>
            <a:ext cx="370332" cy="274320"/>
          </a:xfrm>
          <a:prstGeom prst="rect">
            <a:avLst/>
          </a:prstGeom>
          <a:solidFill>
            <a:schemeClr val="tx2"/>
          </a:solidFill>
          <a:ln/>
        </p:spPr>
      </p:sp>
      <p:sp>
        <p:nvSpPr>
          <p:cNvPr id="10" name="Capacity cell 6"/>
          <p:cNvSpPr/>
          <p:nvPr/>
        </p:nvSpPr>
        <p:spPr>
          <a:xfrm>
            <a:off x="2628900" y="3703320"/>
            <a:ext cx="370332" cy="274320"/>
          </a:xfrm>
          <a:prstGeom prst="rect">
            <a:avLst/>
          </a:prstGeom>
          <a:solidFill>
            <a:schemeClr val="tx2"/>
          </a:solidFill>
          <a:ln/>
        </p:spPr>
      </p:sp>
      <p:sp>
        <p:nvSpPr>
          <p:cNvPr id="11" name="Capacity cell 7"/>
          <p:cNvSpPr/>
          <p:nvPr/>
        </p:nvSpPr>
        <p:spPr>
          <a:xfrm>
            <a:off x="3044952" y="3703320"/>
            <a:ext cx="370332" cy="274320"/>
          </a:xfrm>
          <a:prstGeom prst="rect">
            <a:avLst/>
          </a:prstGeom>
          <a:solidFill>
            <a:schemeClr val="tx2"/>
          </a:solidFill>
          <a:ln/>
        </p:spPr>
      </p:sp>
      <p:sp>
        <p:nvSpPr>
          <p:cNvPr id="12" name="Capacity cell 8"/>
          <p:cNvSpPr/>
          <p:nvPr/>
        </p:nvSpPr>
        <p:spPr>
          <a:xfrm>
            <a:off x="3461004" y="3703320"/>
            <a:ext cx="370332" cy="274320"/>
          </a:xfrm>
          <a:prstGeom prst="rect">
            <a:avLst/>
          </a:prstGeom>
          <a:solidFill>
            <a:schemeClr val="tx2"/>
          </a:solidFill>
          <a:ln/>
        </p:spPr>
      </p:sp>
      <p:sp>
        <p:nvSpPr>
          <p:cNvPr id="13" name="Capacity cell 9"/>
          <p:cNvSpPr/>
          <p:nvPr/>
        </p:nvSpPr>
        <p:spPr>
          <a:xfrm>
            <a:off x="3877056" y="3703320"/>
            <a:ext cx="370332" cy="274320"/>
          </a:xfrm>
          <a:prstGeom prst="rect">
            <a:avLst/>
          </a:prstGeom>
          <a:solidFill>
            <a:schemeClr val="tx2"/>
          </a:solidFill>
          <a:ln/>
        </p:spPr>
      </p:sp>
      <p:sp>
        <p:nvSpPr>
          <p:cNvPr id="14" name="Capacity cell 10"/>
          <p:cNvSpPr/>
          <p:nvPr/>
        </p:nvSpPr>
        <p:spPr>
          <a:xfrm>
            <a:off x="4293108" y="3703320"/>
            <a:ext cx="370332" cy="274320"/>
          </a:xfrm>
          <a:prstGeom prst="rect">
            <a:avLst/>
          </a:prstGeom>
          <a:solidFill>
            <a:schemeClr val="accent1"/>
          </a:solidFill>
          <a:ln/>
        </p:spPr>
      </p:sp>
      <p:sp>
        <p:nvSpPr>
          <p:cNvPr id="15" name="Text 13"/>
          <p:cNvSpPr txBox="1"/>
          <p:nvPr/>
        </p:nvSpPr>
        <p:spPr>
          <a:xfrm>
            <a:off x="548640" y="4041648"/>
            <a:ext cx="4114800" cy="201168"/>
          </a:xfrm>
          <a:prstGeom prst="rect">
            <a:avLst/>
          </a:prstGeom>
          <a:noFill/>
          <a:ln/>
        </p:spPr>
        <p:txBody>
          <a:bodyPr wrap="square" lIns="0" tIns="0" rIns="0" bIns="0" rtlCol="0" anchor="t"/>
          <a:lstStyle/>
          <a:p>
            <a:pPr marL="0" indent="0">
              <a:buNone/>
            </a:pPr>
            <a:r>
              <a:rPr lang="en-US" sz="1100" dirty="0">
                <a:solidFill>
                  <a:schemeClr val="accent4"/>
                </a:solidFill>
              </a:rPr>
              <a:t>W = 10  ·  the last kilogram decides</a:t>
            </a:r>
            <a:endParaRPr lang="en-US" sz="1100" dirty="0"/>
          </a:p>
        </p:txBody>
      </p:sp>
      <p:sp>
        <p:nvSpPr>
          <p:cNvPr id="16" name="Text 14"/>
          <p:cNvSpPr txBox="1"/>
          <p:nvPr/>
        </p:nvSpPr>
        <p:spPr>
          <a:xfrm>
            <a:off x="5029200" y="1417320"/>
            <a:ext cx="3566160" cy="228600"/>
          </a:xfrm>
          <a:prstGeom prst="rect">
            <a:avLst/>
          </a:prstGeom>
          <a:noFill/>
          <a:ln/>
        </p:spPr>
        <p:txBody>
          <a:bodyPr wrap="square" lIns="0" tIns="0" rIns="0" bIns="0" rtlCol="0" anchor="ctr"/>
          <a:lstStyle/>
          <a:p>
            <a:pPr marL="0" indent="0">
              <a:buNone/>
            </a:pPr>
            <a:r>
              <a:rPr lang="en-US" sz="1100" b="1" kern="0" spc="300" dirty="0">
                <a:solidFill>
                  <a:schemeClr val="accent5"/>
                </a:solidFill>
              </a:rPr>
              <a:t>WHERE IT APPEARS</a:t>
            </a:r>
            <a:endParaRPr lang="en-US" sz="1100" dirty="0"/>
          </a:p>
        </p:txBody>
      </p:sp>
      <p:sp>
        <p:nvSpPr>
          <p:cNvPr id="17" name="Text 15"/>
          <p:cNvSpPr txBox="1"/>
          <p:nvPr/>
        </p:nvSpPr>
        <p:spPr>
          <a:xfrm>
            <a:off x="5029200" y="1737360"/>
            <a:ext cx="3566160" cy="1280160"/>
          </a:xfrm>
          <a:prstGeom prst="rect">
            <a:avLst/>
          </a:prstGeom>
          <a:noFill/>
          <a:ln/>
        </p:spPr>
        <p:txBody>
          <a:bodyPr wrap="square" lIns="0" tIns="0" rIns="0" bIns="0" rtlCol="0" anchor="t"/>
          <a:lstStyle/>
          <a:p>
            <a:pPr marL="0" indent="0">
              <a:spcAft>
                <a:spcPts val="700"/>
              </a:spcAft>
              <a:buNone/>
            </a:pPr>
            <a:r>
              <a:rPr lang="en-US" sz="1400" dirty="0">
                <a:solidFill>
                  <a:schemeClr val="bg1"/>
                </a:solidFill>
              </a:rPr>
              <a:t>Cargo and container loading</a:t>
            </a:r>
            <a:endParaRPr lang="en-US" sz="1400" dirty="0"/>
          </a:p>
          <a:p>
            <a:pPr marL="0" indent="0">
              <a:spcAft>
                <a:spcPts val="700"/>
              </a:spcAft>
              <a:buNone/>
            </a:pPr>
            <a:r>
              <a:rPr lang="en-US" sz="1400" dirty="0">
                <a:solidFill>
                  <a:schemeClr val="bg1"/>
                </a:solidFill>
              </a:rPr>
              <a:t>Project selection under a budget</a:t>
            </a:r>
            <a:endParaRPr lang="en-US" sz="1400" dirty="0"/>
          </a:p>
          <a:p>
            <a:pPr marL="0" indent="0">
              <a:spcAft>
                <a:spcPts val="700"/>
              </a:spcAft>
              <a:buNone/>
            </a:pPr>
            <a:r>
              <a:rPr lang="en-US" sz="1400" dirty="0">
                <a:solidFill>
                  <a:schemeClr val="bg1"/>
                </a:solidFill>
              </a:rPr>
              <a:t>Cloud workload allocation</a:t>
            </a:r>
            <a:endParaRPr lang="en-US" sz="1400" dirty="0"/>
          </a:p>
          <a:p>
            <a:pPr marL="0" indent="0">
              <a:spcAft>
                <a:spcPts val="700"/>
              </a:spcAft>
              <a:buNone/>
            </a:pPr>
            <a:r>
              <a:rPr lang="en-US" sz="1400" dirty="0">
                <a:solidFill>
                  <a:schemeClr val="bg1"/>
                </a:solidFill>
              </a:rPr>
              <a:t>Cutting and packing decisions</a:t>
            </a:r>
            <a:endParaRPr lang="en-US" sz="1400" dirty="0"/>
          </a:p>
        </p:txBody>
      </p:sp>
      <p:sp>
        <p:nvSpPr>
          <p:cNvPr id="18" name="Text 16"/>
          <p:cNvSpPr txBox="1"/>
          <p:nvPr/>
        </p:nvSpPr>
        <p:spPr>
          <a:xfrm>
            <a:off x="5029200" y="3154680"/>
            <a:ext cx="3566160" cy="228600"/>
          </a:xfrm>
          <a:prstGeom prst="rect">
            <a:avLst/>
          </a:prstGeom>
          <a:noFill/>
          <a:ln/>
        </p:spPr>
        <p:txBody>
          <a:bodyPr wrap="square" lIns="0" tIns="0" rIns="0" bIns="0" rtlCol="0" anchor="ctr"/>
          <a:lstStyle/>
          <a:p>
            <a:pPr marL="0" indent="0">
              <a:buNone/>
            </a:pPr>
            <a:r>
              <a:rPr lang="en-US" sz="1100" b="1" kern="0" spc="300" dirty="0">
                <a:solidFill>
                  <a:schemeClr val="accent5"/>
                </a:solidFill>
              </a:rPr>
              <a:t>KEY TAKEAWAYS</a:t>
            </a:r>
            <a:endParaRPr lang="en-US" sz="1100" dirty="0"/>
          </a:p>
        </p:txBody>
      </p:sp>
      <p:sp>
        <p:nvSpPr>
          <p:cNvPr id="19" name="Text 17"/>
          <p:cNvSpPr txBox="1"/>
          <p:nvPr/>
        </p:nvSpPr>
        <p:spPr>
          <a:xfrm>
            <a:off x="5029200" y="3474720"/>
            <a:ext cx="3566160" cy="1097280"/>
          </a:xfrm>
          <a:prstGeom prst="rect">
            <a:avLst/>
          </a:prstGeom>
          <a:noFill/>
          <a:ln/>
        </p:spPr>
        <p:txBody>
          <a:bodyPr wrap="square" lIns="0" tIns="0" rIns="0" bIns="0" rtlCol="0" anchor="t"/>
          <a:lstStyle/>
          <a:p>
            <a:pPr marL="0" indent="0">
              <a:spcAft>
                <a:spcPts val="700"/>
              </a:spcAft>
              <a:buNone/>
            </a:pPr>
            <a:r>
              <a:rPr lang="en-US" sz="1400" b="1" dirty="0">
                <a:solidFill>
                  <a:schemeClr val="accent5"/>
                </a:solidFill>
              </a:rPr>
              <a:t>1  </a:t>
            </a:r>
            <a:r>
              <a:rPr lang="en-US" sz="1400" dirty="0">
                <a:solidFill>
                  <a:schemeClr val="bg1"/>
                </a:solidFill>
              </a:rPr>
              <a:t>Fractional: ratio sort, O(n log n), optimal</a:t>
            </a:r>
            <a:endParaRPr lang="en-US" sz="1400" dirty="0"/>
          </a:p>
          <a:p>
            <a:pPr marL="0" indent="0">
              <a:spcAft>
                <a:spcPts val="700"/>
              </a:spcAft>
              <a:buNone/>
            </a:pPr>
            <a:r>
              <a:rPr lang="en-US" sz="1400" b="1" dirty="0">
                <a:solidFill>
                  <a:schemeClr val="accent5"/>
                </a:solidFill>
              </a:rPr>
              <a:t>2  </a:t>
            </a:r>
            <a:r>
              <a:rPr lang="en-US" sz="1400" dirty="0">
                <a:solidFill>
                  <a:schemeClr val="bg1"/>
                </a:solidFill>
              </a:rPr>
              <a:t>0/1: greedy can fail; DP gives O(nW)</a:t>
            </a:r>
            <a:endParaRPr lang="en-US" sz="1400" dirty="0"/>
          </a:p>
          <a:p>
            <a:pPr marL="0" indent="0">
              <a:spcAft>
                <a:spcPts val="700"/>
              </a:spcAft>
              <a:buNone/>
            </a:pPr>
            <a:r>
              <a:rPr lang="en-US" sz="1400" b="1" dirty="0">
                <a:solidFill>
                  <a:schemeClr val="accent5"/>
                </a:solidFill>
              </a:rPr>
              <a:t>3  </a:t>
            </a:r>
            <a:r>
              <a:rPr lang="en-US" sz="1400" dirty="0">
                <a:solidFill>
                  <a:schemeClr val="bg1"/>
                </a:solidFill>
              </a:rPr>
              <a:t>O(nW) is pseudo-polynomial in W</a:t>
            </a:r>
            <a:endParaRPr lang="en-US" sz="1400" dirty="0"/>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8046720" cy="237744"/>
          </a:xfrm>
          <a:prstGeom prst="rect">
            <a:avLst/>
          </a:prstGeom>
          <a:noFill/>
          <a:ln/>
        </p:spPr>
        <p:txBody>
          <a:bodyPr wrap="square" lIns="0" tIns="0" rIns="0" bIns="0" rtlCol="0" anchor="ctr"/>
          <a:lstStyle/>
          <a:p>
            <a:pPr marL="0" indent="0" algn="l">
              <a:buNone/>
            </a:pPr>
            <a:r>
              <a:rPr lang="en-US" sz="1100" b="1" kern="0" spc="300" dirty="0">
                <a:solidFill>
                  <a:schemeClr val="accent1"/>
                </a:solidFill>
              </a:rPr>
              <a:t>10  ·</a:t>
            </a:r>
            <a:endParaRPr lang="en-US" sz="1100" dirty="0"/>
          </a:p>
        </p:txBody>
      </p:sp>
      <p:sp>
        <p:nvSpPr>
          <p:cNvPr id="3" name="Text 0"/>
          <p:cNvSpPr>
            <a:spLocks noGrp="1"/>
          </p:cNvSpPr>
          <p:nvPr>
            <p:ph type="title" idx="101" hasCustomPrompt="1"/>
          </p:nvPr>
        </p:nvSpPr>
        <p:spPr>
          <a:xfrm>
            <a:off x="1036319" y="1993900"/>
            <a:ext cx="3887894" cy="1156886"/>
          </a:xfrm>
          <a:prstGeom prst="rect">
            <a:avLst/>
          </a:prstGeom>
          <a:noFill/>
          <a:ln/>
        </p:spPr>
        <p:txBody>
          <a:bodyPr wrap="square" lIns="0" tIns="0" rIns="0" bIns="0" rtlCol="0" anchor="ctr"/>
          <a:lstStyle/>
          <a:p>
            <a:pPr marL="0" indent="0" algn="ctr">
              <a:buNone/>
            </a:pPr>
            <a:r>
              <a:rPr lang="en-US" sz="5400" dirty="0"/>
              <a:t>Thank</a:t>
            </a:r>
            <a:r>
              <a:rPr lang="en-US" sz="3200" dirty="0"/>
              <a:t> </a:t>
            </a:r>
            <a:r>
              <a:rPr lang="en-US" sz="5400" dirty="0"/>
              <a:t>You</a:t>
            </a:r>
          </a:p>
        </p:txBody>
      </p:sp>
      <p:sp>
        <p:nvSpPr>
          <p:cNvPr id="9" name="Disclosure panel"/>
          <p:cNvSpPr/>
          <p:nvPr/>
        </p:nvSpPr>
        <p:spPr>
          <a:xfrm>
            <a:off x="5760720" y="1339596"/>
            <a:ext cx="2834640" cy="3246120"/>
          </a:xfrm>
          <a:prstGeom prst="rect">
            <a:avLst/>
          </a:prstGeom>
          <a:solidFill>
            <a:schemeClr val="bg2"/>
          </a:solidFill>
          <a:ln/>
        </p:spPr>
      </p:sp>
      <p:sp>
        <p:nvSpPr>
          <p:cNvPr id="10" name="Text 8"/>
          <p:cNvSpPr txBox="1"/>
          <p:nvPr/>
        </p:nvSpPr>
        <p:spPr>
          <a:xfrm>
            <a:off x="5989320" y="1463040"/>
            <a:ext cx="2377440" cy="228600"/>
          </a:xfrm>
          <a:prstGeom prst="rect">
            <a:avLst/>
          </a:prstGeom>
          <a:noFill/>
          <a:ln/>
        </p:spPr>
        <p:txBody>
          <a:bodyPr wrap="square" lIns="0" tIns="0" rIns="0" bIns="0" rtlCol="0" anchor="ctr"/>
          <a:lstStyle/>
          <a:p>
            <a:pPr marL="0" indent="0">
              <a:buNone/>
            </a:pPr>
            <a:r>
              <a:rPr lang="en-US" sz="1400" b="1" kern="0" spc="300" dirty="0">
                <a:solidFill>
                  <a:schemeClr val="accent1"/>
                </a:solidFill>
              </a:rPr>
              <a:t>AI DISCLOSURE</a:t>
            </a:r>
            <a:endParaRPr lang="en-US" sz="1400" dirty="0"/>
          </a:p>
        </p:txBody>
      </p:sp>
      <p:sp>
        <p:nvSpPr>
          <p:cNvPr id="11" name="Text 9"/>
          <p:cNvSpPr txBox="1"/>
          <p:nvPr/>
        </p:nvSpPr>
        <p:spPr>
          <a:xfrm>
            <a:off x="5989320" y="1815084"/>
            <a:ext cx="2423160" cy="1261872"/>
          </a:xfrm>
          <a:prstGeom prst="rect">
            <a:avLst/>
          </a:prstGeom>
          <a:noFill/>
          <a:ln/>
        </p:spPr>
        <p:txBody>
          <a:bodyPr wrap="square" lIns="0" tIns="0" rIns="0" bIns="0" rtlCol="0" anchor="t"/>
          <a:lstStyle/>
          <a:p>
            <a:pPr marL="0" indent="0">
              <a:buNone/>
            </a:pPr>
            <a:r>
              <a:rPr lang="en-US" sz="1200" dirty="0">
                <a:solidFill>
                  <a:schemeClr val="tx1"/>
                </a:solidFill>
              </a:rPr>
              <a:t>This deck was designed and drafted with Claude (Anthropic). Every worked example was recomputed with a verification script, and the sources at left were opened and read while drafting. </a:t>
            </a:r>
            <a:endParaRPr lang="en-US" sz="1200" dirty="0"/>
          </a:p>
        </p:txBody>
      </p:sp>
      <p:sp>
        <p:nvSpPr>
          <p:cNvPr id="13" name="Text 11"/>
          <p:cNvSpPr txBox="1"/>
          <p:nvPr/>
        </p:nvSpPr>
        <p:spPr>
          <a:xfrm>
            <a:off x="5943600" y="3081528"/>
            <a:ext cx="2423160" cy="474472"/>
          </a:xfrm>
          <a:prstGeom prst="rect">
            <a:avLst/>
          </a:prstGeom>
          <a:noFill/>
          <a:ln/>
        </p:spPr>
        <p:txBody>
          <a:bodyPr wrap="square" lIns="0" tIns="0" rIns="0" bIns="0" rtlCol="0" anchor="ctr"/>
          <a:lstStyle/>
          <a:p>
            <a:pPr marL="0" indent="0">
              <a:buNone/>
            </a:pPr>
            <a:r>
              <a:rPr lang="en-US" sz="1400" b="1" kern="0" spc="300" dirty="0">
                <a:solidFill>
                  <a:schemeClr val="accent1"/>
                </a:solidFill>
              </a:rPr>
              <a:t>PREPARED BY</a:t>
            </a:r>
            <a:endParaRPr lang="en-US" sz="1400" dirty="0"/>
          </a:p>
        </p:txBody>
      </p:sp>
      <p:sp>
        <p:nvSpPr>
          <p:cNvPr id="14" name="Text 12"/>
          <p:cNvSpPr txBox="1"/>
          <p:nvPr/>
        </p:nvSpPr>
        <p:spPr>
          <a:xfrm>
            <a:off x="5943600" y="3556000"/>
            <a:ext cx="2423160" cy="594360"/>
          </a:xfrm>
          <a:prstGeom prst="rect">
            <a:avLst/>
          </a:prstGeom>
          <a:noFill/>
          <a:ln/>
        </p:spPr>
        <p:txBody>
          <a:bodyPr wrap="square" lIns="0" tIns="0" rIns="0" bIns="0" rtlCol="0" anchor="t"/>
          <a:lstStyle/>
          <a:p>
            <a:pPr marL="0" indent="0">
              <a:buNone/>
            </a:pPr>
            <a:r>
              <a:rPr lang="en-US" sz="1200" dirty="0"/>
              <a:t>Nidhi </a:t>
            </a:r>
            <a:r>
              <a:rPr lang="en-US" sz="1200" dirty="0" err="1"/>
              <a:t>Potle</a:t>
            </a:r>
            <a:endParaRPr lang="en-US" sz="1200" dirty="0"/>
          </a:p>
          <a:p>
            <a:pPr marL="0" indent="0">
              <a:buNone/>
            </a:pPr>
            <a:r>
              <a:rPr lang="en-US" sz="1200" dirty="0"/>
              <a:t>25070521121</a:t>
            </a:r>
          </a:p>
          <a:p>
            <a:pPr marL="0" indent="0">
              <a:buNone/>
            </a:pPr>
            <a:r>
              <a:rPr lang="en-US" sz="1200" dirty="0"/>
              <a:t>Sec: C       Sem: 3</a:t>
            </a:r>
          </a:p>
        </p:txBody>
      </p:sp>
      <p:sp>
        <p:nvSpPr>
          <p:cNvPr id="25" name="Slide Number Placeholder 0"/>
          <p:cNvSpPr>
            <a:spLocks noGrp="1"/>
          </p:cNvSpPr>
          <p:nvPr>
            <p:ph type="sldNum" sz="quarter" idx="4294967295"/>
          </p:nvPr>
        </p:nvSpPr>
        <p:spPr>
          <a:xfrm>
            <a:off x="813816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Espresso Editorial">
  <a:themeElements>
    <a:clrScheme name="Espresso Editorial">
      <a:dk1>
        <a:srgbClr val="2B1D14"/>
      </a:dk1>
      <a:lt1>
        <a:srgbClr val="F6F0E4"/>
      </a:lt1>
      <a:dk2>
        <a:srgbClr val="5A4636"/>
      </a:dk2>
      <a:lt2>
        <a:srgbClr val="EBE1CD"/>
      </a:lt2>
      <a:accent1>
        <a:srgbClr val="B5532A"/>
      </a:accent1>
      <a:accent2>
        <a:srgbClr val="5E673B"/>
      </a:accent2>
      <a:accent3>
        <a:srgbClr val="7A6045"/>
      </a:accent3>
      <a:accent4>
        <a:srgbClr val="CDBF9F"/>
      </a:accent4>
      <a:accent5>
        <a:srgbClr val="E08A55"/>
      </a:accent5>
      <a:accent6>
        <a:srgbClr val="B9BF98"/>
      </a:accent6>
      <a:hlink>
        <a:srgbClr val="B5532A"/>
      </a:hlink>
      <a:folHlink>
        <a:srgbClr val="7A6045"/>
      </a:folHlink>
    </a:clrScheme>
    <a:fontScheme name="Espresso Editori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2093</Words>
  <Application>Microsoft Office PowerPoint</Application>
  <PresentationFormat>On-screen Show (16:9)</PresentationFormat>
  <Paragraphs>297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Espresso Editorial</vt:lpstr>
      <vt:lpstr>The Last 10 Kilograms</vt:lpstr>
      <vt:lpstr>The pack cannot hold it all</vt:lpstr>
      <vt:lpstr>One pack, two sets of rules</vt:lpstr>
      <vt:lpstr>Greedy: rank by profit per kg</vt:lpstr>
      <vt:lpstr>Where greedy breaks</vt:lpstr>
      <vt:lpstr>The DP state and recurrence</vt:lpstr>
      <vt:lpstr>The full table, capacity 10</vt:lpstr>
      <vt:lpstr>Greedy vs DP, side by side</vt:lpstr>
      <vt:lpstr>Choosing the right tool</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Knapsack Problem: Greedy Method vs Dynamic Programming</dc:title>
  <dc:subject>Design and Analysis of Algorithms</dc:subject>
  <dc:creator>PptxGenJS</dc:creator>
  <cp:lastModifiedBy>nidhipotle2007@gmail.com</cp:lastModifiedBy>
  <cp:revision>5</cp:revision>
  <dcterms:created xsi:type="dcterms:W3CDTF">2026-10-19T05:21:57Z</dcterms:created>
  <dcterms:modified xsi:type="dcterms:W3CDTF">2026-10-19T05:43:54Z</dcterms:modified>
</cp:coreProperties>
</file>